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C64454-D80A-C448-B179-6504ACC2ED6D}" v="77" dt="2025-09-10T13:14:29.1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667"/>
  </p:normalViewPr>
  <p:slideViewPr>
    <p:cSldViewPr snapToGrid="0">
      <p:cViewPr varScale="1">
        <p:scale>
          <a:sx n="137" d="100"/>
          <a:sy n="137" d="100"/>
        </p:scale>
        <p:origin x="6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9/10/25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9/10/25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ode/krantiswalke/bank-personal-loan-modelling-supervised-learning/input"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NickKirilo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837F-2CDD-999B-97FC-A094B95F8066}"/>
              </a:ext>
            </a:extLst>
          </p:cNvPr>
          <p:cNvSpPr>
            <a:spLocks noGrp="1"/>
          </p:cNvSpPr>
          <p:nvPr>
            <p:ph type="ctrTitle"/>
          </p:nvPr>
        </p:nvSpPr>
        <p:spPr/>
        <p:txBody>
          <a:bodyPr/>
          <a:lstStyle/>
          <a:p>
            <a:r>
              <a:rPr lang="en-US" dirty="0"/>
              <a:t>Visa for </a:t>
            </a:r>
            <a:r>
              <a:rPr lang="en-US" dirty="0" err="1"/>
              <a:t>lisa</a:t>
            </a:r>
            <a:endParaRPr lang="en-US" dirty="0"/>
          </a:p>
        </p:txBody>
      </p:sp>
      <p:sp>
        <p:nvSpPr>
          <p:cNvPr id="3" name="Subtitle 2">
            <a:extLst>
              <a:ext uri="{FF2B5EF4-FFF2-40B4-BE49-F238E27FC236}">
                <a16:creationId xmlns:a16="http://schemas.microsoft.com/office/drawing/2014/main" id="{AFA7D43D-B71C-5470-81F7-B75FB5F8971D}"/>
              </a:ext>
            </a:extLst>
          </p:cNvPr>
          <p:cNvSpPr>
            <a:spLocks noGrp="1"/>
          </p:cNvSpPr>
          <p:nvPr>
            <p:ph type="subTitle" idx="1"/>
          </p:nvPr>
        </p:nvSpPr>
        <p:spPr/>
        <p:txBody>
          <a:bodyPr/>
          <a:lstStyle/>
          <a:p>
            <a:r>
              <a:rPr lang="en-US" dirty="0"/>
              <a:t>An ML project for a fictional bank</a:t>
            </a:r>
          </a:p>
          <a:p>
            <a:r>
              <a:rPr lang="en-US" sz="1200" dirty="0"/>
              <a:t>From Nikolay Kirilov, student at Amsterdam tech</a:t>
            </a:r>
          </a:p>
        </p:txBody>
      </p:sp>
    </p:spTree>
    <p:extLst>
      <p:ext uri="{BB962C8B-B14F-4D97-AF65-F5344CB8AC3E}">
        <p14:creationId xmlns:p14="http://schemas.microsoft.com/office/powerpoint/2010/main" val="2933362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1702-F4E1-62F5-C68F-5A765ADDFDDD}"/>
              </a:ext>
            </a:extLst>
          </p:cNvPr>
          <p:cNvSpPr>
            <a:spLocks noGrp="1"/>
          </p:cNvSpPr>
          <p:nvPr>
            <p:ph type="title"/>
          </p:nvPr>
        </p:nvSpPr>
        <p:spPr/>
        <p:txBody>
          <a:bodyPr/>
          <a:lstStyle/>
          <a:p>
            <a:r>
              <a:rPr lang="en-US" dirty="0"/>
              <a:t>Problem Definition</a:t>
            </a:r>
          </a:p>
        </p:txBody>
      </p:sp>
      <p:sp>
        <p:nvSpPr>
          <p:cNvPr id="3" name="Content Placeholder 2">
            <a:extLst>
              <a:ext uri="{FF2B5EF4-FFF2-40B4-BE49-F238E27FC236}">
                <a16:creationId xmlns:a16="http://schemas.microsoft.com/office/drawing/2014/main" id="{5ED65CD5-F736-E3B7-9BAC-E5A1AB9EF429}"/>
              </a:ext>
            </a:extLst>
          </p:cNvPr>
          <p:cNvSpPr>
            <a:spLocks noGrp="1"/>
          </p:cNvSpPr>
          <p:nvPr>
            <p:ph idx="1"/>
          </p:nvPr>
        </p:nvSpPr>
        <p:spPr/>
        <p:txBody>
          <a:bodyPr/>
          <a:lstStyle/>
          <a:p>
            <a:r>
              <a:rPr lang="en-US" dirty="0"/>
              <a:t>The goal is to help the marketing department of a fictional bank called Galaxy Bank to properly target people with offers for a personal loan.</a:t>
            </a:r>
          </a:p>
          <a:p>
            <a:r>
              <a:rPr lang="en-US" dirty="0"/>
              <a:t>This matters because they want to efficiently use their budget, lower the cost, and increase the ROI.</a:t>
            </a:r>
          </a:p>
          <a:p>
            <a:r>
              <a:rPr lang="en-US" dirty="0"/>
              <a:t>The success criteria for the project, in my opinion, are to have an F1 score above 93%.</a:t>
            </a:r>
          </a:p>
        </p:txBody>
      </p:sp>
    </p:spTree>
    <p:extLst>
      <p:ext uri="{BB962C8B-B14F-4D97-AF65-F5344CB8AC3E}">
        <p14:creationId xmlns:p14="http://schemas.microsoft.com/office/powerpoint/2010/main" val="4055596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3106F-1A20-C3FF-9E28-92BE0CAB7345}"/>
              </a:ext>
            </a:extLst>
          </p:cNvPr>
          <p:cNvSpPr>
            <a:spLocks noGrp="1"/>
          </p:cNvSpPr>
          <p:nvPr>
            <p:ph type="title"/>
          </p:nvPr>
        </p:nvSpPr>
        <p:spPr>
          <a:xfrm>
            <a:off x="1141413" y="618517"/>
            <a:ext cx="2877336" cy="5507328"/>
          </a:xfrm>
        </p:spPr>
        <p:txBody>
          <a:bodyPr>
            <a:normAutofit/>
          </a:bodyPr>
          <a:lstStyle/>
          <a:p>
            <a:r>
              <a:rPr lang="en-GB" dirty="0"/>
              <a:t>Data</a:t>
            </a:r>
            <a:endParaRPr lang="en-US" dirty="0"/>
          </a:p>
        </p:txBody>
      </p:sp>
      <p:sp>
        <p:nvSpPr>
          <p:cNvPr id="3" name="Content Placeholder 2">
            <a:extLst>
              <a:ext uri="{FF2B5EF4-FFF2-40B4-BE49-F238E27FC236}">
                <a16:creationId xmlns:a16="http://schemas.microsoft.com/office/drawing/2014/main" id="{98A3EFBF-DBAF-C8E1-6996-F365D3540475}"/>
              </a:ext>
            </a:extLst>
          </p:cNvPr>
          <p:cNvSpPr>
            <a:spLocks noGrp="1"/>
          </p:cNvSpPr>
          <p:nvPr>
            <p:ph idx="1"/>
          </p:nvPr>
        </p:nvSpPr>
        <p:spPr>
          <a:xfrm>
            <a:off x="2906487" y="638650"/>
            <a:ext cx="8668742" cy="3782778"/>
          </a:xfrm>
        </p:spPr>
        <p:txBody>
          <a:bodyPr>
            <a:normAutofit/>
          </a:bodyPr>
          <a:lstStyle/>
          <a:p>
            <a:r>
              <a:rPr lang="en-US" dirty="0"/>
              <a:t>The data source is provided in the project description and can be found on Kaggle, as well: </a:t>
            </a:r>
            <a:r>
              <a:rPr lang="en-GB" u="sng" dirty="0">
                <a:hlinkClick r:id="rId3"/>
              </a:rPr>
              <a:t>https://www.kaggle.com/code/krantiswalke/bank-personal-loan-modelling-supervised-learning/input</a:t>
            </a:r>
            <a:endParaRPr lang="en-GB" u="sng" dirty="0"/>
          </a:p>
          <a:p>
            <a:r>
              <a:rPr lang="en-US" dirty="0"/>
              <a:t>We have 5000 samples and 14 features.</a:t>
            </a:r>
          </a:p>
        </p:txBody>
      </p:sp>
      <p:pic>
        <p:nvPicPr>
          <p:cNvPr id="7" name="Picture 6" descr="A screen shot of a black screen&#10;&#10;AI-generated content may be incorrect.">
            <a:extLst>
              <a:ext uri="{FF2B5EF4-FFF2-40B4-BE49-F238E27FC236}">
                <a16:creationId xmlns:a16="http://schemas.microsoft.com/office/drawing/2014/main" id="{302EC479-D3F1-C5AC-7177-A16228DC74B5}"/>
              </a:ext>
            </a:extLst>
          </p:cNvPr>
          <p:cNvPicPr>
            <a:picLocks noChangeAspect="1"/>
          </p:cNvPicPr>
          <p:nvPr/>
        </p:nvPicPr>
        <p:blipFill>
          <a:blip r:embed="rId4"/>
          <a:stretch>
            <a:fillRect/>
          </a:stretch>
        </p:blipFill>
        <p:spPr>
          <a:xfrm>
            <a:off x="2906487" y="3228208"/>
            <a:ext cx="8275699" cy="3262304"/>
          </a:xfrm>
          <a:prstGeom prst="rect">
            <a:avLst/>
          </a:prstGeom>
        </p:spPr>
      </p:pic>
    </p:spTree>
    <p:extLst>
      <p:ext uri="{BB962C8B-B14F-4D97-AF65-F5344CB8AC3E}">
        <p14:creationId xmlns:p14="http://schemas.microsoft.com/office/powerpoint/2010/main" val="666239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B53FBF2-F2DA-18B9-7D2E-F217AC2D7C9B}"/>
              </a:ext>
            </a:extLst>
          </p:cNvPr>
          <p:cNvSpPr>
            <a:spLocks noGrp="1"/>
          </p:cNvSpPr>
          <p:nvPr>
            <p:ph type="title"/>
          </p:nvPr>
        </p:nvSpPr>
        <p:spPr>
          <a:xfrm>
            <a:off x="1141413" y="618518"/>
            <a:ext cx="4459286" cy="1478570"/>
          </a:xfrm>
        </p:spPr>
        <p:txBody>
          <a:bodyPr>
            <a:normAutofit/>
          </a:bodyPr>
          <a:lstStyle/>
          <a:p>
            <a:r>
              <a:rPr lang="en-US" sz="3200"/>
              <a:t>Data preprocessing</a:t>
            </a:r>
          </a:p>
        </p:txBody>
      </p:sp>
      <p:sp>
        <p:nvSpPr>
          <p:cNvPr id="3" name="Content Placeholder 2">
            <a:extLst>
              <a:ext uri="{FF2B5EF4-FFF2-40B4-BE49-F238E27FC236}">
                <a16:creationId xmlns:a16="http://schemas.microsoft.com/office/drawing/2014/main" id="{F59B9242-4428-E569-3BDE-44261BFA382B}"/>
              </a:ext>
            </a:extLst>
          </p:cNvPr>
          <p:cNvSpPr>
            <a:spLocks noGrp="1"/>
          </p:cNvSpPr>
          <p:nvPr>
            <p:ph idx="1"/>
          </p:nvPr>
        </p:nvSpPr>
        <p:spPr>
          <a:xfrm>
            <a:off x="1141412" y="2249487"/>
            <a:ext cx="4459287" cy="3965046"/>
          </a:xfrm>
        </p:spPr>
        <p:txBody>
          <a:bodyPr>
            <a:normAutofit/>
          </a:bodyPr>
          <a:lstStyle/>
          <a:p>
            <a:pPr marL="0" indent="0">
              <a:buNone/>
            </a:pPr>
            <a:r>
              <a:rPr lang="en-US" sz="2000"/>
              <a:t>Although the data was initially pretty clean and without any null values, I implemented normalization using log and target encoding. Then, I implemented feature engineering, where I created 3 features that later on turned out not to help the model perform better. The data was balanced, so I did not further balance it.</a:t>
            </a:r>
          </a:p>
        </p:txBody>
      </p:sp>
      <p:pic>
        <p:nvPicPr>
          <p:cNvPr id="5" name="Picture 4" descr="A diagram of a personal loan distribution.&#10;&#10;">
            <a:extLst>
              <a:ext uri="{FF2B5EF4-FFF2-40B4-BE49-F238E27FC236}">
                <a16:creationId xmlns:a16="http://schemas.microsoft.com/office/drawing/2014/main" id="{C0A4A35E-D9D8-4A6A-4AA6-5160B52CA6B4}"/>
              </a:ext>
            </a:extLst>
          </p:cNvPr>
          <p:cNvPicPr>
            <a:picLocks noChangeAspect="1"/>
          </p:cNvPicPr>
          <p:nvPr/>
        </p:nvPicPr>
        <p:blipFill>
          <a:blip r:embed="rId4"/>
          <a:stretch>
            <a:fillRect/>
          </a:stretch>
        </p:blipFill>
        <p:spPr>
          <a:xfrm>
            <a:off x="6096000" y="1152170"/>
            <a:ext cx="5456279" cy="452871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4" name="Group 13">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5"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7"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2"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561168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00FA19-CD71-551E-766F-0661D3761368}"/>
              </a:ext>
            </a:extLst>
          </p:cNvPr>
          <p:cNvSpPr>
            <a:spLocks noGrp="1"/>
          </p:cNvSpPr>
          <p:nvPr>
            <p:ph type="title"/>
          </p:nvPr>
        </p:nvSpPr>
        <p:spPr>
          <a:xfrm>
            <a:off x="1141413" y="618518"/>
            <a:ext cx="4459286" cy="1478570"/>
          </a:xfrm>
        </p:spPr>
        <p:txBody>
          <a:bodyPr>
            <a:normAutofit/>
          </a:bodyPr>
          <a:lstStyle/>
          <a:p>
            <a:r>
              <a:rPr lang="en-GB" sz="3200" dirty="0"/>
              <a:t>Exploratory Data Analysis</a:t>
            </a:r>
            <a:endParaRPr lang="en-US" sz="3200" dirty="0"/>
          </a:p>
        </p:txBody>
      </p:sp>
      <p:sp>
        <p:nvSpPr>
          <p:cNvPr id="3" name="Content Placeholder 2">
            <a:extLst>
              <a:ext uri="{FF2B5EF4-FFF2-40B4-BE49-F238E27FC236}">
                <a16:creationId xmlns:a16="http://schemas.microsoft.com/office/drawing/2014/main" id="{6DDF03B0-B31B-57C9-234A-9035353EC465}"/>
              </a:ext>
            </a:extLst>
          </p:cNvPr>
          <p:cNvSpPr>
            <a:spLocks noGrp="1"/>
          </p:cNvSpPr>
          <p:nvPr>
            <p:ph idx="1"/>
          </p:nvPr>
        </p:nvSpPr>
        <p:spPr>
          <a:xfrm>
            <a:off x="1141412" y="2249487"/>
            <a:ext cx="4459287" cy="3965046"/>
          </a:xfrm>
        </p:spPr>
        <p:txBody>
          <a:bodyPr>
            <a:normAutofit/>
          </a:bodyPr>
          <a:lstStyle/>
          <a:p>
            <a:pPr marL="0" indent="0">
              <a:buNone/>
            </a:pPr>
            <a:r>
              <a:rPr lang="en-US" sz="2000" dirty="0"/>
              <a:t>First, I checked if the data is balanced enough by displaying our target variable as a violin plot.</a:t>
            </a:r>
          </a:p>
        </p:txBody>
      </p:sp>
      <p:pic>
        <p:nvPicPr>
          <p:cNvPr id="4" name="Picture 3" descr="A diagram of a personal loan distribution.&#10;&#10;">
            <a:extLst>
              <a:ext uri="{FF2B5EF4-FFF2-40B4-BE49-F238E27FC236}">
                <a16:creationId xmlns:a16="http://schemas.microsoft.com/office/drawing/2014/main" id="{2976486D-746B-A8ED-BACB-D1FD949781A2}"/>
              </a:ext>
            </a:extLst>
          </p:cNvPr>
          <p:cNvPicPr>
            <a:picLocks noChangeAspect="1"/>
          </p:cNvPicPr>
          <p:nvPr/>
        </p:nvPicPr>
        <p:blipFill>
          <a:blip r:embed="rId4"/>
          <a:stretch>
            <a:fillRect/>
          </a:stretch>
        </p:blipFill>
        <p:spPr>
          <a:xfrm>
            <a:off x="6096000" y="1152170"/>
            <a:ext cx="5456279" cy="452871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3" name="Group 12">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6"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1"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2020776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7BE9-3F55-09AB-37EC-4A889311149B}"/>
              </a:ext>
            </a:extLst>
          </p:cNvPr>
          <p:cNvSpPr>
            <a:spLocks noGrp="1"/>
          </p:cNvSpPr>
          <p:nvPr>
            <p:ph type="title"/>
          </p:nvPr>
        </p:nvSpPr>
        <p:spPr>
          <a:xfrm>
            <a:off x="8036041" y="466530"/>
            <a:ext cx="3281003" cy="1033398"/>
          </a:xfrm>
        </p:spPr>
        <p:txBody>
          <a:bodyPr anchor="b">
            <a:normAutofit/>
          </a:bodyPr>
          <a:lstStyle/>
          <a:p>
            <a:r>
              <a:rPr lang="en-GB" sz="2800" dirty="0"/>
              <a:t>Exploratory Data Analysis</a:t>
            </a:r>
            <a:endParaRPr lang="en-US" sz="2800" dirty="0"/>
          </a:p>
        </p:txBody>
      </p:sp>
      <p:sp>
        <p:nvSpPr>
          <p:cNvPr id="76" name="Round Diagonal Corner Rectangle 11">
            <a:extLst>
              <a:ext uri="{FF2B5EF4-FFF2-40B4-BE49-F238E27FC236}">
                <a16:creationId xmlns:a16="http://schemas.microsoft.com/office/drawing/2014/main" id="{73D430B3-B555-4951-AFBC-C9868F0B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of a graph of income&#10;&#10;AI-generated content may be incorrect.">
            <a:extLst>
              <a:ext uri="{FF2B5EF4-FFF2-40B4-BE49-F238E27FC236}">
                <a16:creationId xmlns:a16="http://schemas.microsoft.com/office/drawing/2014/main" id="{3A38B06D-CAC7-7378-BB23-FB8D5A1E3BAD}"/>
              </a:ext>
            </a:extLst>
          </p:cNvPr>
          <p:cNvPicPr>
            <a:picLocks noChangeAspect="1"/>
          </p:cNvPicPr>
          <p:nvPr/>
        </p:nvPicPr>
        <p:blipFill>
          <a:blip r:embed="rId3"/>
          <a:stretch>
            <a:fillRect/>
          </a:stretch>
        </p:blipFill>
        <p:spPr>
          <a:xfrm>
            <a:off x="1182152" y="1137621"/>
            <a:ext cx="2847999" cy="2207199"/>
          </a:xfrm>
          <a:prstGeom prst="rect">
            <a:avLst/>
          </a:prstGeom>
        </p:spPr>
      </p:pic>
      <p:pic>
        <p:nvPicPr>
          <p:cNvPr id="7" name="Picture 6" descr="A graph of different colored columns&#10;&#10;AI-generated content may be incorrect.">
            <a:extLst>
              <a:ext uri="{FF2B5EF4-FFF2-40B4-BE49-F238E27FC236}">
                <a16:creationId xmlns:a16="http://schemas.microsoft.com/office/drawing/2014/main" id="{986EC64B-27FF-2F5F-62AF-1E603F7764BF}"/>
              </a:ext>
            </a:extLst>
          </p:cNvPr>
          <p:cNvPicPr>
            <a:picLocks noChangeAspect="1"/>
          </p:cNvPicPr>
          <p:nvPr/>
        </p:nvPicPr>
        <p:blipFill>
          <a:blip r:embed="rId4"/>
          <a:stretch>
            <a:fillRect/>
          </a:stretch>
        </p:blipFill>
        <p:spPr>
          <a:xfrm>
            <a:off x="4306291" y="1137621"/>
            <a:ext cx="2875830" cy="2207199"/>
          </a:xfrm>
          <a:prstGeom prst="rect">
            <a:avLst/>
          </a:prstGeom>
        </p:spPr>
      </p:pic>
      <p:pic>
        <p:nvPicPr>
          <p:cNvPr id="5" name="Picture 4" descr="A graph of a number of people&#10;&#10;AI-generated content may be incorrect.">
            <a:extLst>
              <a:ext uri="{FF2B5EF4-FFF2-40B4-BE49-F238E27FC236}">
                <a16:creationId xmlns:a16="http://schemas.microsoft.com/office/drawing/2014/main" id="{153E8C6F-A3D4-245E-01FF-D8D19A1CF516}"/>
              </a:ext>
            </a:extLst>
          </p:cNvPr>
          <p:cNvPicPr>
            <a:picLocks noChangeAspect="1"/>
          </p:cNvPicPr>
          <p:nvPr/>
        </p:nvPicPr>
        <p:blipFill>
          <a:blip r:embed="rId5"/>
          <a:stretch>
            <a:fillRect/>
          </a:stretch>
        </p:blipFill>
        <p:spPr>
          <a:xfrm>
            <a:off x="1163538" y="3505687"/>
            <a:ext cx="2885227" cy="2207199"/>
          </a:xfrm>
          <a:prstGeom prst="rect">
            <a:avLst/>
          </a:prstGeom>
        </p:spPr>
      </p:pic>
      <p:pic>
        <p:nvPicPr>
          <p:cNvPr id="9" name="Picture 8" descr="A blue and black diagram of a person's loan&#10;&#10;AI-generated content may be incorrect.">
            <a:extLst>
              <a:ext uri="{FF2B5EF4-FFF2-40B4-BE49-F238E27FC236}">
                <a16:creationId xmlns:a16="http://schemas.microsoft.com/office/drawing/2014/main" id="{99621CBD-1703-C3D1-3DF6-A54979F12A5A}"/>
              </a:ext>
            </a:extLst>
          </p:cNvPr>
          <p:cNvPicPr>
            <a:picLocks noChangeAspect="1"/>
          </p:cNvPicPr>
          <p:nvPr/>
        </p:nvPicPr>
        <p:blipFill>
          <a:blip r:embed="rId6"/>
          <a:stretch>
            <a:fillRect/>
          </a:stretch>
        </p:blipFill>
        <p:spPr>
          <a:xfrm>
            <a:off x="4301592" y="3505686"/>
            <a:ext cx="2885227" cy="2207199"/>
          </a:xfrm>
          <a:prstGeom prst="rect">
            <a:avLst/>
          </a:prstGeom>
        </p:spPr>
      </p:pic>
      <p:sp>
        <p:nvSpPr>
          <p:cNvPr id="3" name="Content Placeholder 2">
            <a:extLst>
              <a:ext uri="{FF2B5EF4-FFF2-40B4-BE49-F238E27FC236}">
                <a16:creationId xmlns:a16="http://schemas.microsoft.com/office/drawing/2014/main" id="{1B83EBF4-6364-1B9C-9B9B-F8F2FDB32278}"/>
              </a:ext>
            </a:extLst>
          </p:cNvPr>
          <p:cNvSpPr>
            <a:spLocks noGrp="1"/>
          </p:cNvSpPr>
          <p:nvPr>
            <p:ph idx="1"/>
          </p:nvPr>
        </p:nvSpPr>
        <p:spPr>
          <a:xfrm>
            <a:off x="8036041" y="1499928"/>
            <a:ext cx="3281004" cy="4739553"/>
          </a:xfrm>
        </p:spPr>
        <p:txBody>
          <a:bodyPr>
            <a:normAutofit fontScale="85000" lnSpcReduction="10000"/>
          </a:bodyPr>
          <a:lstStyle/>
          <a:p>
            <a:pPr marL="0" indent="0">
              <a:buNone/>
            </a:pPr>
            <a:r>
              <a:rPr lang="en-US" sz="1800" dirty="0"/>
              <a:t>Then I checked for some key correlations between the features. </a:t>
            </a:r>
          </a:p>
          <a:p>
            <a:r>
              <a:rPr lang="en-US" sz="1800" dirty="0"/>
              <a:t>It turned out that there is a huge correlation between the target and the Income – the higher it is, the more likely to get a personal loan. </a:t>
            </a:r>
          </a:p>
          <a:p>
            <a:r>
              <a:rPr lang="en-US" sz="1800" dirty="0"/>
              <a:t>For the Age feature, it turned out that there is no straight connection. </a:t>
            </a:r>
          </a:p>
          <a:p>
            <a:r>
              <a:rPr lang="en-US" sz="1800" dirty="0"/>
              <a:t>When it comes to the Mortgage, it seems that there is a slight correlation between having a bigger mortgage and a personal loan. </a:t>
            </a:r>
          </a:p>
          <a:p>
            <a:r>
              <a:rPr lang="en-US" sz="1800" dirty="0"/>
              <a:t>For the credit card average feature, I can easily state that the higher it is, the more likely to get a personal loan.</a:t>
            </a:r>
          </a:p>
        </p:txBody>
      </p:sp>
    </p:spTree>
    <p:extLst>
      <p:ext uri="{BB962C8B-B14F-4D97-AF65-F5344CB8AC3E}">
        <p14:creationId xmlns:p14="http://schemas.microsoft.com/office/powerpoint/2010/main" val="2561924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E795-1D9E-5ED7-5B27-EA3039EB7C79}"/>
              </a:ext>
            </a:extLst>
          </p:cNvPr>
          <p:cNvSpPr>
            <a:spLocks noGrp="1"/>
          </p:cNvSpPr>
          <p:nvPr>
            <p:ph type="title"/>
          </p:nvPr>
        </p:nvSpPr>
        <p:spPr/>
        <p:txBody>
          <a:bodyPr/>
          <a:lstStyle/>
          <a:p>
            <a:r>
              <a:rPr lang="en-GB" dirty="0"/>
              <a:t>Methodology</a:t>
            </a:r>
            <a:endParaRPr lang="en-US" dirty="0"/>
          </a:p>
        </p:txBody>
      </p:sp>
      <p:sp>
        <p:nvSpPr>
          <p:cNvPr id="3" name="Content Placeholder 2">
            <a:extLst>
              <a:ext uri="{FF2B5EF4-FFF2-40B4-BE49-F238E27FC236}">
                <a16:creationId xmlns:a16="http://schemas.microsoft.com/office/drawing/2014/main" id="{75A7AAE4-CB2E-CBA0-BE48-784A96E24835}"/>
              </a:ext>
            </a:extLst>
          </p:cNvPr>
          <p:cNvSpPr>
            <a:spLocks noGrp="1"/>
          </p:cNvSpPr>
          <p:nvPr>
            <p:ph idx="1"/>
          </p:nvPr>
        </p:nvSpPr>
        <p:spPr/>
        <p:txBody>
          <a:bodyPr/>
          <a:lstStyle/>
          <a:p>
            <a:pPr marL="0" indent="0">
              <a:buNone/>
            </a:pPr>
            <a:r>
              <a:rPr lang="en-US" dirty="0"/>
              <a:t>Although it is a classification problem, I have chosen Linear Regression with thresholding for a baseline, and other regression and classification algorithms to test. I have split the data 75 to 25 percent and then done hyperparameter optimization for the F1 score. I utilized </a:t>
            </a:r>
            <a:r>
              <a:rPr lang="en-US" dirty="0" err="1"/>
              <a:t>pyspark</a:t>
            </a:r>
            <a:r>
              <a:rPr lang="en-US" dirty="0"/>
              <a:t> and </a:t>
            </a:r>
            <a:r>
              <a:rPr lang="en-US" dirty="0" err="1"/>
              <a:t>mllib</a:t>
            </a:r>
            <a:r>
              <a:rPr lang="en-US" dirty="0"/>
              <a:t> because I wanted to showcase my ability to work with those libraries. Moreover, I used </a:t>
            </a:r>
            <a:r>
              <a:rPr lang="en-US" dirty="0" err="1"/>
              <a:t>optuna</a:t>
            </a:r>
            <a:r>
              <a:rPr lang="en-US" dirty="0"/>
              <a:t> for the hyperparameter optimization and seaborn for visualization.  </a:t>
            </a:r>
          </a:p>
        </p:txBody>
      </p:sp>
    </p:spTree>
    <p:extLst>
      <p:ext uri="{BB962C8B-B14F-4D97-AF65-F5344CB8AC3E}">
        <p14:creationId xmlns:p14="http://schemas.microsoft.com/office/powerpoint/2010/main" val="3027973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44B70-7D8C-9EE0-6EBD-34C637A6C809}"/>
              </a:ext>
            </a:extLst>
          </p:cNvPr>
          <p:cNvSpPr>
            <a:spLocks noGrp="1"/>
          </p:cNvSpPr>
          <p:nvPr>
            <p:ph type="title"/>
          </p:nvPr>
        </p:nvSpPr>
        <p:spPr>
          <a:xfrm>
            <a:off x="1144589" y="211079"/>
            <a:ext cx="9905998" cy="1478570"/>
          </a:xfrm>
        </p:spPr>
        <p:txBody>
          <a:bodyPr/>
          <a:lstStyle/>
          <a:p>
            <a:r>
              <a:rPr lang="en-GB" dirty="0"/>
              <a:t>Experiments &amp; Results</a:t>
            </a:r>
            <a:endParaRPr lang="en-US" dirty="0"/>
          </a:p>
        </p:txBody>
      </p:sp>
      <p:sp>
        <p:nvSpPr>
          <p:cNvPr id="3" name="Content Placeholder 2">
            <a:extLst>
              <a:ext uri="{FF2B5EF4-FFF2-40B4-BE49-F238E27FC236}">
                <a16:creationId xmlns:a16="http://schemas.microsoft.com/office/drawing/2014/main" id="{E8D6C3F4-A03D-55E0-AE55-38B4A46D4CF4}"/>
              </a:ext>
            </a:extLst>
          </p:cNvPr>
          <p:cNvSpPr>
            <a:spLocks noGrp="1"/>
          </p:cNvSpPr>
          <p:nvPr>
            <p:ph idx="1"/>
          </p:nvPr>
        </p:nvSpPr>
        <p:spPr>
          <a:xfrm>
            <a:off x="1141413" y="1185796"/>
            <a:ext cx="10204612" cy="3071263"/>
          </a:xfrm>
        </p:spPr>
        <p:txBody>
          <a:bodyPr>
            <a:normAutofit lnSpcReduction="10000"/>
          </a:bodyPr>
          <a:lstStyle/>
          <a:p>
            <a:pPr marL="0" indent="0">
              <a:buNone/>
            </a:pPr>
            <a:r>
              <a:rPr lang="en-US" dirty="0"/>
              <a:t>I have conducted multiple experiments that can be found in the notebook and in the next slides. Generally, the RandomForestRegressor performed the best. During the first iteration with the raw data, the Linear Regression F1 score was 92.87, while the RandomForestRegressor was </a:t>
            </a:r>
            <a:r>
              <a:rPr lang="en-GB" dirty="0"/>
              <a:t>92.83. It turned out that the baseline is better than the advanced algorithm. The </a:t>
            </a:r>
            <a:r>
              <a:rPr lang="en-US" dirty="0" err="1"/>
              <a:t>RandomForestClassifier</a:t>
            </a:r>
            <a:r>
              <a:rPr lang="en-US" dirty="0"/>
              <a:t>, achieved 96.43.</a:t>
            </a:r>
            <a:r>
              <a:rPr lang="en-GB" dirty="0"/>
              <a:t> However, later on in the third iteration, it turned out that the last one was much better.</a:t>
            </a:r>
            <a:endParaRPr lang="en-US" dirty="0"/>
          </a:p>
        </p:txBody>
      </p:sp>
      <p:pic>
        <p:nvPicPr>
          <p:cNvPr id="5" name="Picture 4">
            <a:extLst>
              <a:ext uri="{FF2B5EF4-FFF2-40B4-BE49-F238E27FC236}">
                <a16:creationId xmlns:a16="http://schemas.microsoft.com/office/drawing/2014/main" id="{0C33B849-CD7F-DE06-FFD2-AFFDDFA832E2}"/>
              </a:ext>
            </a:extLst>
          </p:cNvPr>
          <p:cNvPicPr>
            <a:picLocks noChangeAspect="1"/>
          </p:cNvPicPr>
          <p:nvPr/>
        </p:nvPicPr>
        <p:blipFill>
          <a:blip r:embed="rId2"/>
          <a:stretch>
            <a:fillRect/>
          </a:stretch>
        </p:blipFill>
        <p:spPr>
          <a:xfrm>
            <a:off x="1617903" y="4300063"/>
            <a:ext cx="8956194" cy="1863425"/>
          </a:xfrm>
          <a:prstGeom prst="rect">
            <a:avLst/>
          </a:prstGeom>
        </p:spPr>
      </p:pic>
    </p:spTree>
    <p:extLst>
      <p:ext uri="{BB962C8B-B14F-4D97-AF65-F5344CB8AC3E}">
        <p14:creationId xmlns:p14="http://schemas.microsoft.com/office/powerpoint/2010/main" val="1330916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607D-1554-43DF-7737-6D7EEDC4CC6D}"/>
              </a:ext>
            </a:extLst>
          </p:cNvPr>
          <p:cNvSpPr>
            <a:spLocks noGrp="1"/>
          </p:cNvSpPr>
          <p:nvPr>
            <p:ph type="title"/>
          </p:nvPr>
        </p:nvSpPr>
        <p:spPr>
          <a:xfrm>
            <a:off x="1141412" y="237850"/>
            <a:ext cx="9905998" cy="909815"/>
          </a:xfrm>
        </p:spPr>
        <p:txBody>
          <a:bodyPr/>
          <a:lstStyle/>
          <a:p>
            <a:r>
              <a:rPr lang="en-GB" dirty="0"/>
              <a:t>Experiments &amp; Results</a:t>
            </a:r>
            <a:endParaRPr lang="en-US" dirty="0"/>
          </a:p>
        </p:txBody>
      </p:sp>
      <p:sp>
        <p:nvSpPr>
          <p:cNvPr id="3" name="Content Placeholder 2">
            <a:extLst>
              <a:ext uri="{FF2B5EF4-FFF2-40B4-BE49-F238E27FC236}">
                <a16:creationId xmlns:a16="http://schemas.microsoft.com/office/drawing/2014/main" id="{DACF23FC-FA3A-422D-50D8-A4B14A68D927}"/>
              </a:ext>
            </a:extLst>
          </p:cNvPr>
          <p:cNvSpPr>
            <a:spLocks noGrp="1"/>
          </p:cNvSpPr>
          <p:nvPr>
            <p:ph idx="1"/>
          </p:nvPr>
        </p:nvSpPr>
        <p:spPr>
          <a:xfrm>
            <a:off x="1141411" y="1213789"/>
            <a:ext cx="9905999" cy="3541714"/>
          </a:xfrm>
        </p:spPr>
        <p:txBody>
          <a:bodyPr/>
          <a:lstStyle/>
          <a:p>
            <a:pPr marL="0" indent="0">
              <a:buNone/>
            </a:pPr>
            <a:r>
              <a:rPr lang="en-US" dirty="0"/>
              <a:t>However, when I added all features (raw, normalized, engineered), it seems the RandomForestRegressor performed the best in the second iteration, but still worse than </a:t>
            </a:r>
            <a:r>
              <a:rPr lang="en-US" dirty="0" err="1"/>
              <a:t>RandomForestClassifier</a:t>
            </a:r>
            <a:r>
              <a:rPr lang="en-US" dirty="0"/>
              <a:t> from the first iteration.</a:t>
            </a:r>
          </a:p>
        </p:txBody>
      </p:sp>
      <p:graphicFrame>
        <p:nvGraphicFramePr>
          <p:cNvPr id="5" name="Table 4">
            <a:extLst>
              <a:ext uri="{FF2B5EF4-FFF2-40B4-BE49-F238E27FC236}">
                <a16:creationId xmlns:a16="http://schemas.microsoft.com/office/drawing/2014/main" id="{B2A89C67-8935-E651-BBE6-0F66D075EB21}"/>
              </a:ext>
            </a:extLst>
          </p:cNvPr>
          <p:cNvGraphicFramePr>
            <a:graphicFrameLocks noGrp="1"/>
          </p:cNvGraphicFramePr>
          <p:nvPr>
            <p:extLst>
              <p:ext uri="{D42A27DB-BD31-4B8C-83A1-F6EECF244321}">
                <p14:modId xmlns:p14="http://schemas.microsoft.com/office/powerpoint/2010/main" val="2051408526"/>
              </p:ext>
            </p:extLst>
          </p:nvPr>
        </p:nvGraphicFramePr>
        <p:xfrm>
          <a:off x="1279815" y="3137784"/>
          <a:ext cx="9629190" cy="2966720"/>
        </p:xfrm>
        <a:graphic>
          <a:graphicData uri="http://schemas.openxmlformats.org/drawingml/2006/table">
            <a:tbl>
              <a:tblPr firstRow="1" bandRow="1">
                <a:tableStyleId>{8FD4443E-F989-4FC4-A0C8-D5A2AF1F390B}</a:tableStyleId>
              </a:tblPr>
              <a:tblGrid>
                <a:gridCol w="2556588">
                  <a:extLst>
                    <a:ext uri="{9D8B030D-6E8A-4147-A177-3AD203B41FA5}">
                      <a16:colId xmlns:a16="http://schemas.microsoft.com/office/drawing/2014/main" val="375722677"/>
                    </a:ext>
                  </a:extLst>
                </a:gridCol>
                <a:gridCol w="1101012">
                  <a:extLst>
                    <a:ext uri="{9D8B030D-6E8A-4147-A177-3AD203B41FA5}">
                      <a16:colId xmlns:a16="http://schemas.microsoft.com/office/drawing/2014/main" val="1257302733"/>
                    </a:ext>
                  </a:extLst>
                </a:gridCol>
                <a:gridCol w="1156995">
                  <a:extLst>
                    <a:ext uri="{9D8B030D-6E8A-4147-A177-3AD203B41FA5}">
                      <a16:colId xmlns:a16="http://schemas.microsoft.com/office/drawing/2014/main" val="2114932727"/>
                    </a:ext>
                  </a:extLst>
                </a:gridCol>
                <a:gridCol w="1604865">
                  <a:extLst>
                    <a:ext uri="{9D8B030D-6E8A-4147-A177-3AD203B41FA5}">
                      <a16:colId xmlns:a16="http://schemas.microsoft.com/office/drawing/2014/main" val="4273687515"/>
                    </a:ext>
                  </a:extLst>
                </a:gridCol>
                <a:gridCol w="1604865">
                  <a:extLst>
                    <a:ext uri="{9D8B030D-6E8A-4147-A177-3AD203B41FA5}">
                      <a16:colId xmlns:a16="http://schemas.microsoft.com/office/drawing/2014/main" val="2002350842"/>
                    </a:ext>
                  </a:extLst>
                </a:gridCol>
                <a:gridCol w="1604865">
                  <a:extLst>
                    <a:ext uri="{9D8B030D-6E8A-4147-A177-3AD203B41FA5}">
                      <a16:colId xmlns:a16="http://schemas.microsoft.com/office/drawing/2014/main" val="1807543849"/>
                    </a:ext>
                  </a:extLst>
                </a:gridCol>
              </a:tblGrid>
              <a:tr h="370840">
                <a:tc>
                  <a:txBody>
                    <a:bodyPr/>
                    <a:lstStyle/>
                    <a:p>
                      <a:pPr fontAlgn="ctr">
                        <a:buNone/>
                      </a:pPr>
                      <a:r>
                        <a:rPr lang="en-GB" sz="1400" b="1" dirty="0">
                          <a:effectLst/>
                        </a:rPr>
                        <a:t>Model</a:t>
                      </a:r>
                    </a:p>
                  </a:txBody>
                  <a:tcPr anchor="ctr"/>
                </a:tc>
                <a:tc>
                  <a:txBody>
                    <a:bodyPr/>
                    <a:lstStyle/>
                    <a:p>
                      <a:pPr fontAlgn="ctr">
                        <a:buNone/>
                      </a:pPr>
                      <a:r>
                        <a:rPr lang="en-GB" sz="1400" b="1" dirty="0">
                          <a:effectLst/>
                        </a:rPr>
                        <a:t>Accuracy</a:t>
                      </a:r>
                    </a:p>
                  </a:txBody>
                  <a:tcPr anchor="ctr"/>
                </a:tc>
                <a:tc>
                  <a:txBody>
                    <a:bodyPr/>
                    <a:lstStyle/>
                    <a:p>
                      <a:pPr fontAlgn="ctr">
                        <a:buNone/>
                      </a:pPr>
                      <a:r>
                        <a:rPr lang="en-GB" sz="1400" b="1">
                          <a:effectLst/>
                        </a:rPr>
                        <a:t>Precision</a:t>
                      </a:r>
                    </a:p>
                  </a:txBody>
                  <a:tcPr anchor="ctr"/>
                </a:tc>
                <a:tc>
                  <a:txBody>
                    <a:bodyPr/>
                    <a:lstStyle/>
                    <a:p>
                      <a:pPr fontAlgn="ctr">
                        <a:buNone/>
                      </a:pPr>
                      <a:r>
                        <a:rPr lang="en-GB" sz="1400" b="1">
                          <a:effectLst/>
                        </a:rPr>
                        <a:t>Recall</a:t>
                      </a:r>
                    </a:p>
                  </a:txBody>
                  <a:tcPr anchor="ctr"/>
                </a:tc>
                <a:tc>
                  <a:txBody>
                    <a:bodyPr/>
                    <a:lstStyle/>
                    <a:p>
                      <a:pPr fontAlgn="ctr">
                        <a:buNone/>
                      </a:pPr>
                      <a:r>
                        <a:rPr lang="en-GB" sz="1400" b="1" dirty="0">
                          <a:effectLst/>
                        </a:rPr>
                        <a:t>F1 Score</a:t>
                      </a:r>
                    </a:p>
                  </a:txBody>
                  <a:tcPr anchor="ctr"/>
                </a:tc>
                <a:tc>
                  <a:txBody>
                    <a:bodyPr/>
                    <a:lstStyle/>
                    <a:p>
                      <a:pPr fontAlgn="ctr">
                        <a:buNone/>
                      </a:pPr>
                      <a:r>
                        <a:rPr lang="en-GB" sz="1400" b="1" dirty="0">
                          <a:effectLst/>
                        </a:rPr>
                        <a:t>Iteration</a:t>
                      </a:r>
                    </a:p>
                  </a:txBody>
                  <a:tcPr anchor="ctr"/>
                </a:tc>
                <a:extLst>
                  <a:ext uri="{0D108BD9-81ED-4DB2-BD59-A6C34878D82A}">
                    <a16:rowId xmlns:a16="http://schemas.microsoft.com/office/drawing/2014/main" val="1627297706"/>
                  </a:ext>
                </a:extLst>
              </a:tr>
              <a:tr h="370840">
                <a:tc>
                  <a:txBody>
                    <a:bodyPr/>
                    <a:lstStyle/>
                    <a:p>
                      <a:pPr fontAlgn="ctr">
                        <a:buNone/>
                      </a:pPr>
                      <a:r>
                        <a:rPr lang="en-GB" sz="1400" dirty="0" err="1">
                          <a:effectLst/>
                        </a:rPr>
                        <a:t>LinearRegression</a:t>
                      </a:r>
                      <a:endParaRPr lang="en-GB" sz="1400" dirty="0">
                        <a:effectLst/>
                      </a:endParaRPr>
                    </a:p>
                  </a:txBody>
                  <a:tcPr anchor="ctr"/>
                </a:tc>
                <a:tc>
                  <a:txBody>
                    <a:bodyPr/>
                    <a:lstStyle/>
                    <a:p>
                      <a:pPr fontAlgn="ctr">
                        <a:buNone/>
                      </a:pPr>
                      <a:r>
                        <a:rPr lang="en-GB" sz="1400" dirty="0">
                          <a:effectLst/>
                        </a:rPr>
                        <a:t>94.64</a:t>
                      </a:r>
                    </a:p>
                  </a:txBody>
                  <a:tcPr anchor="ctr"/>
                </a:tc>
                <a:tc>
                  <a:txBody>
                    <a:bodyPr/>
                    <a:lstStyle/>
                    <a:p>
                      <a:pPr fontAlgn="ctr">
                        <a:buNone/>
                      </a:pPr>
                      <a:r>
                        <a:rPr lang="en-GB" sz="1400" dirty="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281230249"/>
                  </a:ext>
                </a:extLst>
              </a:tr>
              <a:tr h="370840">
                <a:tc>
                  <a:txBody>
                    <a:bodyPr/>
                    <a:lstStyle/>
                    <a:p>
                      <a:pPr fontAlgn="ctr">
                        <a:buNone/>
                      </a:pPr>
                      <a:r>
                        <a:rPr lang="en-GB" sz="1400">
                          <a:effectLst/>
                        </a:rPr>
                        <a:t>GeneralizedLinearRegression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dirty="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4242592661"/>
                  </a:ext>
                </a:extLst>
              </a:tr>
              <a:tr h="370840">
                <a:tc>
                  <a:txBody>
                    <a:bodyPr/>
                    <a:lstStyle/>
                    <a:p>
                      <a:pPr fontAlgn="ctr">
                        <a:buNone/>
                      </a:pPr>
                      <a:r>
                        <a:rPr lang="en-GB" sz="1400">
                          <a:effectLst/>
                        </a:rPr>
                        <a:t>DecisionTreeRegressor</a:t>
                      </a:r>
                    </a:p>
                  </a:txBody>
                  <a:tcPr anchor="ctr"/>
                </a:tc>
                <a:tc>
                  <a:txBody>
                    <a:bodyPr/>
                    <a:lstStyle/>
                    <a:p>
                      <a:pPr fontAlgn="ctr">
                        <a:buNone/>
                      </a:pPr>
                      <a:r>
                        <a:rPr lang="en-GB" sz="1400">
                          <a:effectLst/>
                        </a:rPr>
                        <a:t>92.86</a:t>
                      </a:r>
                    </a:p>
                  </a:txBody>
                  <a:tcPr anchor="ctr"/>
                </a:tc>
                <a:tc>
                  <a:txBody>
                    <a:bodyPr/>
                    <a:lstStyle/>
                    <a:p>
                      <a:pPr fontAlgn="ctr">
                        <a:buNone/>
                      </a:pPr>
                      <a:r>
                        <a:rPr lang="en-GB" sz="1400">
                          <a:effectLst/>
                        </a:rPr>
                        <a:t>100.0</a:t>
                      </a:r>
                    </a:p>
                  </a:txBody>
                  <a:tcPr anchor="ctr"/>
                </a:tc>
                <a:tc>
                  <a:txBody>
                    <a:bodyPr/>
                    <a:lstStyle/>
                    <a:p>
                      <a:pPr fontAlgn="ctr">
                        <a:buNone/>
                      </a:pPr>
                      <a:r>
                        <a:rPr lang="en-GB" sz="1400" dirty="0">
                          <a:effectLst/>
                        </a:rPr>
                        <a:t>84.62</a:t>
                      </a:r>
                    </a:p>
                  </a:txBody>
                  <a:tcPr anchor="ctr"/>
                </a:tc>
                <a:tc>
                  <a:txBody>
                    <a:bodyPr/>
                    <a:lstStyle/>
                    <a:p>
                      <a:pPr fontAlgn="ctr">
                        <a:buNone/>
                      </a:pPr>
                      <a:r>
                        <a:rPr lang="en-GB" sz="1400">
                          <a:effectLst/>
                        </a:rPr>
                        <a:t>92.78</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3212215824"/>
                  </a:ext>
                </a:extLst>
              </a:tr>
              <a:tr h="370840">
                <a:tc>
                  <a:txBody>
                    <a:bodyPr/>
                    <a:lstStyle/>
                    <a:p>
                      <a:pPr fontAlgn="ctr">
                        <a:buNone/>
                      </a:pPr>
                      <a:r>
                        <a:rPr lang="en-GB" sz="1400">
                          <a:effectLst/>
                        </a:rPr>
                        <a:t>RandomForestRegressor</a:t>
                      </a:r>
                    </a:p>
                  </a:txBody>
                  <a:tcPr anchor="ctr"/>
                </a:tc>
                <a:tc>
                  <a:txBody>
                    <a:bodyPr/>
                    <a:lstStyle/>
                    <a:p>
                      <a:pPr fontAlgn="ctr">
                        <a:buNone/>
                      </a:pPr>
                      <a:r>
                        <a:rPr lang="en-GB" sz="1400">
                          <a:effectLst/>
                        </a:rPr>
                        <a:t>96.43</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96.41</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3894362671"/>
                  </a:ext>
                </a:extLst>
              </a:tr>
              <a:tr h="370840">
                <a:tc>
                  <a:txBody>
                    <a:bodyPr/>
                    <a:lstStyle/>
                    <a:p>
                      <a:pPr fontAlgn="ctr">
                        <a:buNone/>
                      </a:pPr>
                      <a:r>
                        <a:rPr lang="en-GB" sz="1400">
                          <a:effectLst/>
                        </a:rPr>
                        <a:t>GBTRegressor</a:t>
                      </a:r>
                    </a:p>
                  </a:txBody>
                  <a:tcPr anchor="ctr"/>
                </a:tc>
                <a:tc>
                  <a:txBody>
                    <a:bodyPr/>
                    <a:lstStyle/>
                    <a:p>
                      <a:pPr fontAlgn="ctr">
                        <a:buNone/>
                      </a:pPr>
                      <a:r>
                        <a:rPr lang="en-GB" sz="1400" dirty="0">
                          <a:effectLst/>
                        </a:rPr>
                        <a:t>91.07</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80.77</a:t>
                      </a:r>
                    </a:p>
                  </a:txBody>
                  <a:tcPr anchor="ctr"/>
                </a:tc>
                <a:tc>
                  <a:txBody>
                    <a:bodyPr/>
                    <a:lstStyle/>
                    <a:p>
                      <a:pPr fontAlgn="ctr">
                        <a:buNone/>
                      </a:pPr>
                      <a:r>
                        <a:rPr lang="en-GB" sz="1400">
                          <a:effectLst/>
                        </a:rPr>
                        <a:t>90.94</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2929494593"/>
                  </a:ext>
                </a:extLst>
              </a:tr>
              <a:tr h="370840">
                <a:tc>
                  <a:txBody>
                    <a:bodyPr/>
                    <a:lstStyle/>
                    <a:p>
                      <a:pPr fontAlgn="ctr">
                        <a:buNone/>
                      </a:pPr>
                      <a:r>
                        <a:rPr lang="en-GB" sz="1400">
                          <a:effectLst/>
                        </a:rPr>
                        <a:t>DecisionTreeClassifier</a:t>
                      </a:r>
                    </a:p>
                  </a:txBody>
                  <a:tcPr anchor="ctr"/>
                </a:tc>
                <a:tc>
                  <a:txBody>
                    <a:bodyPr/>
                    <a:lstStyle/>
                    <a:p>
                      <a:pPr fontAlgn="ctr">
                        <a:buNone/>
                      </a:pPr>
                      <a:r>
                        <a:rPr lang="en-GB" sz="1400">
                          <a:effectLst/>
                        </a:rPr>
                        <a:t>92.86</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84.62</a:t>
                      </a:r>
                    </a:p>
                  </a:txBody>
                  <a:tcPr anchor="ctr"/>
                </a:tc>
                <a:tc>
                  <a:txBody>
                    <a:bodyPr/>
                    <a:lstStyle/>
                    <a:p>
                      <a:pPr fontAlgn="ctr">
                        <a:buNone/>
                      </a:pPr>
                      <a:r>
                        <a:rPr lang="en-GB" sz="1400">
                          <a:effectLst/>
                        </a:rPr>
                        <a:t>92.78</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2379568547"/>
                  </a:ext>
                </a:extLst>
              </a:tr>
              <a:tr h="370840">
                <a:tc>
                  <a:txBody>
                    <a:bodyPr/>
                    <a:lstStyle/>
                    <a:p>
                      <a:pPr fontAlgn="ctr">
                        <a:buNone/>
                      </a:pPr>
                      <a:r>
                        <a:rPr lang="en-GB" sz="1400">
                          <a:effectLst/>
                        </a:rPr>
                        <a:t>RandomForestClassifier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dirty="0">
                          <a:effectLst/>
                        </a:rPr>
                        <a:t>2</a:t>
                      </a:r>
                    </a:p>
                  </a:txBody>
                  <a:tcPr anchor="ctr"/>
                </a:tc>
                <a:extLst>
                  <a:ext uri="{0D108BD9-81ED-4DB2-BD59-A6C34878D82A}">
                    <a16:rowId xmlns:a16="http://schemas.microsoft.com/office/drawing/2014/main" val="3362680418"/>
                  </a:ext>
                </a:extLst>
              </a:tr>
            </a:tbl>
          </a:graphicData>
        </a:graphic>
      </p:graphicFrame>
    </p:spTree>
    <p:extLst>
      <p:ext uri="{BB962C8B-B14F-4D97-AF65-F5344CB8AC3E}">
        <p14:creationId xmlns:p14="http://schemas.microsoft.com/office/powerpoint/2010/main" val="246059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77551-C1D1-E953-3BC8-DCB25D6305F7}"/>
              </a:ext>
            </a:extLst>
          </p:cNvPr>
          <p:cNvSpPr>
            <a:spLocks noGrp="1"/>
          </p:cNvSpPr>
          <p:nvPr>
            <p:ph type="title"/>
          </p:nvPr>
        </p:nvSpPr>
        <p:spPr>
          <a:xfrm>
            <a:off x="1141413" y="198641"/>
            <a:ext cx="9905998" cy="1478570"/>
          </a:xfrm>
        </p:spPr>
        <p:txBody>
          <a:bodyPr/>
          <a:lstStyle/>
          <a:p>
            <a:r>
              <a:rPr lang="en-GB" dirty="0"/>
              <a:t>Experiments &amp; Results</a:t>
            </a:r>
            <a:endParaRPr lang="en-US" dirty="0"/>
          </a:p>
        </p:txBody>
      </p:sp>
      <p:sp>
        <p:nvSpPr>
          <p:cNvPr id="3" name="Content Placeholder 2">
            <a:extLst>
              <a:ext uri="{FF2B5EF4-FFF2-40B4-BE49-F238E27FC236}">
                <a16:creationId xmlns:a16="http://schemas.microsoft.com/office/drawing/2014/main" id="{FA7831C8-3706-408B-C187-2FC91A1C220B}"/>
              </a:ext>
            </a:extLst>
          </p:cNvPr>
          <p:cNvSpPr>
            <a:spLocks noGrp="1"/>
          </p:cNvSpPr>
          <p:nvPr>
            <p:ph idx="1"/>
          </p:nvPr>
        </p:nvSpPr>
        <p:spPr>
          <a:xfrm>
            <a:off x="1141412" y="1251111"/>
            <a:ext cx="9905999" cy="3541714"/>
          </a:xfrm>
        </p:spPr>
        <p:txBody>
          <a:bodyPr/>
          <a:lstStyle/>
          <a:p>
            <a:pPr marL="0" indent="0">
              <a:buNone/>
            </a:pPr>
            <a:r>
              <a:rPr lang="en-US" dirty="0"/>
              <a:t>On the third iteration, where I trained the model only on the raw features and the normalized ones, it turns out that the F1 Score for the RandomForestRegressor is the best overall so far - 98.21.</a:t>
            </a:r>
          </a:p>
        </p:txBody>
      </p:sp>
      <p:graphicFrame>
        <p:nvGraphicFramePr>
          <p:cNvPr id="8" name="Table 7">
            <a:extLst>
              <a:ext uri="{FF2B5EF4-FFF2-40B4-BE49-F238E27FC236}">
                <a16:creationId xmlns:a16="http://schemas.microsoft.com/office/drawing/2014/main" id="{AA075721-B04B-AFC1-24A7-C9CDA7756AB4}"/>
              </a:ext>
            </a:extLst>
          </p:cNvPr>
          <p:cNvGraphicFramePr>
            <a:graphicFrameLocks noGrp="1"/>
          </p:cNvGraphicFramePr>
          <p:nvPr>
            <p:extLst>
              <p:ext uri="{D42A27DB-BD31-4B8C-83A1-F6EECF244321}">
                <p14:modId xmlns:p14="http://schemas.microsoft.com/office/powerpoint/2010/main" val="3001165099"/>
              </p:ext>
            </p:extLst>
          </p:nvPr>
        </p:nvGraphicFramePr>
        <p:xfrm>
          <a:off x="1279815" y="3137784"/>
          <a:ext cx="9629190" cy="2966720"/>
        </p:xfrm>
        <a:graphic>
          <a:graphicData uri="http://schemas.openxmlformats.org/drawingml/2006/table">
            <a:tbl>
              <a:tblPr firstRow="1" bandRow="1">
                <a:tableStyleId>{8FD4443E-F989-4FC4-A0C8-D5A2AF1F390B}</a:tableStyleId>
              </a:tblPr>
              <a:tblGrid>
                <a:gridCol w="2556588">
                  <a:extLst>
                    <a:ext uri="{9D8B030D-6E8A-4147-A177-3AD203B41FA5}">
                      <a16:colId xmlns:a16="http://schemas.microsoft.com/office/drawing/2014/main" val="375722677"/>
                    </a:ext>
                  </a:extLst>
                </a:gridCol>
                <a:gridCol w="1101012">
                  <a:extLst>
                    <a:ext uri="{9D8B030D-6E8A-4147-A177-3AD203B41FA5}">
                      <a16:colId xmlns:a16="http://schemas.microsoft.com/office/drawing/2014/main" val="1257302733"/>
                    </a:ext>
                  </a:extLst>
                </a:gridCol>
                <a:gridCol w="1156995">
                  <a:extLst>
                    <a:ext uri="{9D8B030D-6E8A-4147-A177-3AD203B41FA5}">
                      <a16:colId xmlns:a16="http://schemas.microsoft.com/office/drawing/2014/main" val="2114932727"/>
                    </a:ext>
                  </a:extLst>
                </a:gridCol>
                <a:gridCol w="1604865">
                  <a:extLst>
                    <a:ext uri="{9D8B030D-6E8A-4147-A177-3AD203B41FA5}">
                      <a16:colId xmlns:a16="http://schemas.microsoft.com/office/drawing/2014/main" val="4273687515"/>
                    </a:ext>
                  </a:extLst>
                </a:gridCol>
                <a:gridCol w="1604865">
                  <a:extLst>
                    <a:ext uri="{9D8B030D-6E8A-4147-A177-3AD203B41FA5}">
                      <a16:colId xmlns:a16="http://schemas.microsoft.com/office/drawing/2014/main" val="2002350842"/>
                    </a:ext>
                  </a:extLst>
                </a:gridCol>
                <a:gridCol w="1604865">
                  <a:extLst>
                    <a:ext uri="{9D8B030D-6E8A-4147-A177-3AD203B41FA5}">
                      <a16:colId xmlns:a16="http://schemas.microsoft.com/office/drawing/2014/main" val="1807543849"/>
                    </a:ext>
                  </a:extLst>
                </a:gridCol>
              </a:tblGrid>
              <a:tr h="370840">
                <a:tc>
                  <a:txBody>
                    <a:bodyPr/>
                    <a:lstStyle/>
                    <a:p>
                      <a:pPr fontAlgn="ctr">
                        <a:buNone/>
                      </a:pPr>
                      <a:r>
                        <a:rPr lang="en-GB" sz="1400" b="1" dirty="0">
                          <a:effectLst/>
                        </a:rPr>
                        <a:t>Model</a:t>
                      </a:r>
                    </a:p>
                  </a:txBody>
                  <a:tcPr anchor="ctr"/>
                </a:tc>
                <a:tc>
                  <a:txBody>
                    <a:bodyPr/>
                    <a:lstStyle/>
                    <a:p>
                      <a:pPr fontAlgn="ctr">
                        <a:buNone/>
                      </a:pPr>
                      <a:r>
                        <a:rPr lang="en-GB" sz="1400" b="1" dirty="0">
                          <a:effectLst/>
                        </a:rPr>
                        <a:t>Accuracy</a:t>
                      </a:r>
                    </a:p>
                  </a:txBody>
                  <a:tcPr anchor="ctr"/>
                </a:tc>
                <a:tc>
                  <a:txBody>
                    <a:bodyPr/>
                    <a:lstStyle/>
                    <a:p>
                      <a:pPr fontAlgn="ctr">
                        <a:buNone/>
                      </a:pPr>
                      <a:r>
                        <a:rPr lang="en-GB" sz="1400" b="1">
                          <a:effectLst/>
                        </a:rPr>
                        <a:t>Precision</a:t>
                      </a:r>
                    </a:p>
                  </a:txBody>
                  <a:tcPr anchor="ctr"/>
                </a:tc>
                <a:tc>
                  <a:txBody>
                    <a:bodyPr/>
                    <a:lstStyle/>
                    <a:p>
                      <a:pPr fontAlgn="ctr">
                        <a:buNone/>
                      </a:pPr>
                      <a:r>
                        <a:rPr lang="en-GB" sz="1400" b="1">
                          <a:effectLst/>
                        </a:rPr>
                        <a:t>Recall</a:t>
                      </a:r>
                    </a:p>
                  </a:txBody>
                  <a:tcPr anchor="ctr"/>
                </a:tc>
                <a:tc>
                  <a:txBody>
                    <a:bodyPr/>
                    <a:lstStyle/>
                    <a:p>
                      <a:pPr fontAlgn="ctr">
                        <a:buNone/>
                      </a:pPr>
                      <a:r>
                        <a:rPr lang="en-GB" sz="1400" b="1" dirty="0">
                          <a:effectLst/>
                        </a:rPr>
                        <a:t>F1 Score</a:t>
                      </a:r>
                    </a:p>
                  </a:txBody>
                  <a:tcPr anchor="ctr"/>
                </a:tc>
                <a:tc>
                  <a:txBody>
                    <a:bodyPr/>
                    <a:lstStyle/>
                    <a:p>
                      <a:pPr fontAlgn="ctr">
                        <a:buNone/>
                      </a:pPr>
                      <a:r>
                        <a:rPr lang="en-GB" sz="1400" b="1" dirty="0">
                          <a:effectLst/>
                        </a:rPr>
                        <a:t>Iteration</a:t>
                      </a:r>
                    </a:p>
                  </a:txBody>
                  <a:tcPr anchor="ctr"/>
                </a:tc>
                <a:extLst>
                  <a:ext uri="{0D108BD9-81ED-4DB2-BD59-A6C34878D82A}">
                    <a16:rowId xmlns:a16="http://schemas.microsoft.com/office/drawing/2014/main" val="1627297706"/>
                  </a:ext>
                </a:extLst>
              </a:tr>
              <a:tr h="370840">
                <a:tc>
                  <a:txBody>
                    <a:bodyPr/>
                    <a:lstStyle/>
                    <a:p>
                      <a:pPr fontAlgn="ctr">
                        <a:buNone/>
                      </a:pPr>
                      <a:r>
                        <a:rPr lang="en-GB" sz="1400">
                          <a:effectLst/>
                        </a:rPr>
                        <a:t>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281230249"/>
                  </a:ext>
                </a:extLst>
              </a:tr>
              <a:tr h="370840">
                <a:tc>
                  <a:txBody>
                    <a:bodyPr/>
                    <a:lstStyle/>
                    <a:p>
                      <a:pPr fontAlgn="ctr">
                        <a:buNone/>
                      </a:pPr>
                      <a:r>
                        <a:rPr lang="en-GB" sz="1400">
                          <a:effectLst/>
                        </a:rPr>
                        <a:t>GeneralizedLinearRegression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4242592661"/>
                  </a:ext>
                </a:extLst>
              </a:tr>
              <a:tr h="370840">
                <a:tc>
                  <a:txBody>
                    <a:bodyPr/>
                    <a:lstStyle/>
                    <a:p>
                      <a:pPr fontAlgn="ctr">
                        <a:buNone/>
                      </a:pPr>
                      <a:r>
                        <a:rPr lang="en-GB" sz="1400">
                          <a:effectLst/>
                        </a:rPr>
                        <a:t>DecisionTreeRegressor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dirty="0">
                          <a:effectLst/>
                        </a:rPr>
                        <a:t>94.61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3212215824"/>
                  </a:ext>
                </a:extLst>
              </a:tr>
              <a:tr h="370840">
                <a:tc>
                  <a:txBody>
                    <a:bodyPr/>
                    <a:lstStyle/>
                    <a:p>
                      <a:pPr fontAlgn="ctr">
                        <a:buNone/>
                      </a:pPr>
                      <a:r>
                        <a:rPr lang="en-GB" sz="1400">
                          <a:effectLst/>
                        </a:rPr>
                        <a:t>RandomForestRegressor</a:t>
                      </a:r>
                    </a:p>
                  </a:txBody>
                  <a:tcPr anchor="ctr"/>
                </a:tc>
                <a:tc>
                  <a:txBody>
                    <a:bodyPr/>
                    <a:lstStyle/>
                    <a:p>
                      <a:pPr fontAlgn="ctr">
                        <a:buNone/>
                      </a:pPr>
                      <a:r>
                        <a:rPr lang="en-GB" sz="1400">
                          <a:effectLst/>
                        </a:rPr>
                        <a:t>98.21</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96.15</a:t>
                      </a:r>
                    </a:p>
                  </a:txBody>
                  <a:tcPr anchor="ctr"/>
                </a:tc>
                <a:tc>
                  <a:txBody>
                    <a:bodyPr/>
                    <a:lstStyle/>
                    <a:p>
                      <a:pPr fontAlgn="ctr">
                        <a:buNone/>
                      </a:pPr>
                      <a:r>
                        <a:rPr lang="en-GB" sz="1400" dirty="0">
                          <a:effectLst/>
                        </a:rPr>
                        <a:t>98.21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3894362671"/>
                  </a:ext>
                </a:extLst>
              </a:tr>
              <a:tr h="370840">
                <a:tc>
                  <a:txBody>
                    <a:bodyPr/>
                    <a:lstStyle/>
                    <a:p>
                      <a:pPr fontAlgn="ctr">
                        <a:buNone/>
                      </a:pPr>
                      <a:r>
                        <a:rPr lang="en-GB" sz="1400">
                          <a:effectLst/>
                        </a:rPr>
                        <a:t>GBTRegressor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2929494593"/>
                  </a:ext>
                </a:extLst>
              </a:tr>
              <a:tr h="370840">
                <a:tc>
                  <a:txBody>
                    <a:bodyPr/>
                    <a:lstStyle/>
                    <a:p>
                      <a:pPr fontAlgn="ctr">
                        <a:buNone/>
                      </a:pPr>
                      <a:r>
                        <a:rPr lang="en-GB" sz="1400">
                          <a:effectLst/>
                        </a:rPr>
                        <a:t>DecisionTreeClassifier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3</a:t>
                      </a:r>
                    </a:p>
                  </a:txBody>
                  <a:tcPr anchor="ctr"/>
                </a:tc>
                <a:extLst>
                  <a:ext uri="{0D108BD9-81ED-4DB2-BD59-A6C34878D82A}">
                    <a16:rowId xmlns:a16="http://schemas.microsoft.com/office/drawing/2014/main" val="2379568547"/>
                  </a:ext>
                </a:extLst>
              </a:tr>
              <a:tr h="370840">
                <a:tc>
                  <a:txBody>
                    <a:bodyPr/>
                    <a:lstStyle/>
                    <a:p>
                      <a:pPr fontAlgn="ctr">
                        <a:buNone/>
                      </a:pPr>
                      <a:r>
                        <a:rPr lang="en-GB" sz="1400">
                          <a:effectLst/>
                        </a:rPr>
                        <a:t>RandomForestClassifier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dirty="0">
                          <a:effectLst/>
                        </a:rPr>
                        <a:t>3</a:t>
                      </a:r>
                    </a:p>
                  </a:txBody>
                  <a:tcPr anchor="ctr"/>
                </a:tc>
                <a:extLst>
                  <a:ext uri="{0D108BD9-81ED-4DB2-BD59-A6C34878D82A}">
                    <a16:rowId xmlns:a16="http://schemas.microsoft.com/office/drawing/2014/main" val="3362680418"/>
                  </a:ext>
                </a:extLst>
              </a:tr>
            </a:tbl>
          </a:graphicData>
        </a:graphic>
      </p:graphicFrame>
    </p:spTree>
    <p:extLst>
      <p:ext uri="{BB962C8B-B14F-4D97-AF65-F5344CB8AC3E}">
        <p14:creationId xmlns:p14="http://schemas.microsoft.com/office/powerpoint/2010/main" val="3348023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0E91-75FB-41AC-7006-B0BF6A94793C}"/>
              </a:ext>
            </a:extLst>
          </p:cNvPr>
          <p:cNvSpPr>
            <a:spLocks noGrp="1"/>
          </p:cNvSpPr>
          <p:nvPr>
            <p:ph type="title"/>
          </p:nvPr>
        </p:nvSpPr>
        <p:spPr>
          <a:xfrm>
            <a:off x="1141411" y="179573"/>
            <a:ext cx="9905998" cy="1478570"/>
          </a:xfrm>
        </p:spPr>
        <p:txBody>
          <a:bodyPr/>
          <a:lstStyle/>
          <a:p>
            <a:r>
              <a:rPr lang="en-GB" dirty="0"/>
              <a:t>Experiments &amp; Results</a:t>
            </a:r>
            <a:endParaRPr lang="en-US" dirty="0"/>
          </a:p>
        </p:txBody>
      </p:sp>
      <p:sp>
        <p:nvSpPr>
          <p:cNvPr id="3" name="Content Placeholder 2">
            <a:extLst>
              <a:ext uri="{FF2B5EF4-FFF2-40B4-BE49-F238E27FC236}">
                <a16:creationId xmlns:a16="http://schemas.microsoft.com/office/drawing/2014/main" id="{5CD034B6-A3A1-9478-A6F5-A5AEDFADBD3C}"/>
              </a:ext>
            </a:extLst>
          </p:cNvPr>
          <p:cNvSpPr>
            <a:spLocks noGrp="1"/>
          </p:cNvSpPr>
          <p:nvPr>
            <p:ph idx="1"/>
          </p:nvPr>
        </p:nvSpPr>
        <p:spPr>
          <a:xfrm>
            <a:off x="1141410" y="1366927"/>
            <a:ext cx="9905999" cy="3541714"/>
          </a:xfrm>
        </p:spPr>
        <p:txBody>
          <a:bodyPr/>
          <a:lstStyle/>
          <a:p>
            <a:pPr marL="0" indent="0">
              <a:buNone/>
            </a:pPr>
            <a:r>
              <a:rPr lang="en-US" dirty="0"/>
              <a:t>After the fourth iteration, where I added the ‘</a:t>
            </a:r>
            <a:r>
              <a:rPr lang="en-US" dirty="0" err="1"/>
              <a:t>Mortgage_to_Income</a:t>
            </a:r>
            <a:r>
              <a:rPr lang="en-US" dirty="0"/>
              <a:t>’ feature the F1 Score for the RandomForestRegressor is again the highest; however it is worse than the previous test.</a:t>
            </a:r>
          </a:p>
        </p:txBody>
      </p:sp>
      <p:graphicFrame>
        <p:nvGraphicFramePr>
          <p:cNvPr id="4" name="Table 3">
            <a:extLst>
              <a:ext uri="{FF2B5EF4-FFF2-40B4-BE49-F238E27FC236}">
                <a16:creationId xmlns:a16="http://schemas.microsoft.com/office/drawing/2014/main" id="{08A31697-3E3A-6CDD-5032-BE4E56F95BC4}"/>
              </a:ext>
            </a:extLst>
          </p:cNvPr>
          <p:cNvGraphicFramePr>
            <a:graphicFrameLocks noGrp="1"/>
          </p:cNvGraphicFramePr>
          <p:nvPr>
            <p:extLst>
              <p:ext uri="{D42A27DB-BD31-4B8C-83A1-F6EECF244321}">
                <p14:modId xmlns:p14="http://schemas.microsoft.com/office/powerpoint/2010/main" val="2761613583"/>
              </p:ext>
            </p:extLst>
          </p:nvPr>
        </p:nvGraphicFramePr>
        <p:xfrm>
          <a:off x="1279815" y="3137784"/>
          <a:ext cx="9629190" cy="2966720"/>
        </p:xfrm>
        <a:graphic>
          <a:graphicData uri="http://schemas.openxmlformats.org/drawingml/2006/table">
            <a:tbl>
              <a:tblPr firstRow="1" bandRow="1">
                <a:tableStyleId>{8FD4443E-F989-4FC4-A0C8-D5A2AF1F390B}</a:tableStyleId>
              </a:tblPr>
              <a:tblGrid>
                <a:gridCol w="2556588">
                  <a:extLst>
                    <a:ext uri="{9D8B030D-6E8A-4147-A177-3AD203B41FA5}">
                      <a16:colId xmlns:a16="http://schemas.microsoft.com/office/drawing/2014/main" val="375722677"/>
                    </a:ext>
                  </a:extLst>
                </a:gridCol>
                <a:gridCol w="1101012">
                  <a:extLst>
                    <a:ext uri="{9D8B030D-6E8A-4147-A177-3AD203B41FA5}">
                      <a16:colId xmlns:a16="http://schemas.microsoft.com/office/drawing/2014/main" val="1257302733"/>
                    </a:ext>
                  </a:extLst>
                </a:gridCol>
                <a:gridCol w="1156995">
                  <a:extLst>
                    <a:ext uri="{9D8B030D-6E8A-4147-A177-3AD203B41FA5}">
                      <a16:colId xmlns:a16="http://schemas.microsoft.com/office/drawing/2014/main" val="2114932727"/>
                    </a:ext>
                  </a:extLst>
                </a:gridCol>
                <a:gridCol w="1604865">
                  <a:extLst>
                    <a:ext uri="{9D8B030D-6E8A-4147-A177-3AD203B41FA5}">
                      <a16:colId xmlns:a16="http://schemas.microsoft.com/office/drawing/2014/main" val="4273687515"/>
                    </a:ext>
                  </a:extLst>
                </a:gridCol>
                <a:gridCol w="1604865">
                  <a:extLst>
                    <a:ext uri="{9D8B030D-6E8A-4147-A177-3AD203B41FA5}">
                      <a16:colId xmlns:a16="http://schemas.microsoft.com/office/drawing/2014/main" val="2002350842"/>
                    </a:ext>
                  </a:extLst>
                </a:gridCol>
                <a:gridCol w="1604865">
                  <a:extLst>
                    <a:ext uri="{9D8B030D-6E8A-4147-A177-3AD203B41FA5}">
                      <a16:colId xmlns:a16="http://schemas.microsoft.com/office/drawing/2014/main" val="1807543849"/>
                    </a:ext>
                  </a:extLst>
                </a:gridCol>
              </a:tblGrid>
              <a:tr h="370840">
                <a:tc>
                  <a:txBody>
                    <a:bodyPr/>
                    <a:lstStyle/>
                    <a:p>
                      <a:pPr fontAlgn="ctr">
                        <a:buNone/>
                      </a:pPr>
                      <a:r>
                        <a:rPr lang="en-GB" sz="1400" b="1" dirty="0">
                          <a:effectLst/>
                        </a:rPr>
                        <a:t>Model</a:t>
                      </a:r>
                    </a:p>
                  </a:txBody>
                  <a:tcPr anchor="ctr"/>
                </a:tc>
                <a:tc>
                  <a:txBody>
                    <a:bodyPr/>
                    <a:lstStyle/>
                    <a:p>
                      <a:pPr fontAlgn="ctr">
                        <a:buNone/>
                      </a:pPr>
                      <a:r>
                        <a:rPr lang="en-GB" sz="1400" b="1" dirty="0">
                          <a:effectLst/>
                        </a:rPr>
                        <a:t>Accuracy</a:t>
                      </a:r>
                    </a:p>
                  </a:txBody>
                  <a:tcPr anchor="ctr"/>
                </a:tc>
                <a:tc>
                  <a:txBody>
                    <a:bodyPr/>
                    <a:lstStyle/>
                    <a:p>
                      <a:pPr fontAlgn="ctr">
                        <a:buNone/>
                      </a:pPr>
                      <a:r>
                        <a:rPr lang="en-GB" sz="1400" b="1">
                          <a:effectLst/>
                        </a:rPr>
                        <a:t>Precision</a:t>
                      </a:r>
                    </a:p>
                  </a:txBody>
                  <a:tcPr anchor="ctr"/>
                </a:tc>
                <a:tc>
                  <a:txBody>
                    <a:bodyPr/>
                    <a:lstStyle/>
                    <a:p>
                      <a:pPr fontAlgn="ctr">
                        <a:buNone/>
                      </a:pPr>
                      <a:r>
                        <a:rPr lang="en-GB" sz="1400" b="1">
                          <a:effectLst/>
                        </a:rPr>
                        <a:t>Recall</a:t>
                      </a:r>
                    </a:p>
                  </a:txBody>
                  <a:tcPr anchor="ctr"/>
                </a:tc>
                <a:tc>
                  <a:txBody>
                    <a:bodyPr/>
                    <a:lstStyle/>
                    <a:p>
                      <a:pPr fontAlgn="ctr">
                        <a:buNone/>
                      </a:pPr>
                      <a:r>
                        <a:rPr lang="en-GB" sz="1400" b="1" dirty="0">
                          <a:effectLst/>
                        </a:rPr>
                        <a:t>F1 Score</a:t>
                      </a:r>
                    </a:p>
                  </a:txBody>
                  <a:tcPr anchor="ctr"/>
                </a:tc>
                <a:tc>
                  <a:txBody>
                    <a:bodyPr/>
                    <a:lstStyle/>
                    <a:p>
                      <a:pPr fontAlgn="ctr">
                        <a:buNone/>
                      </a:pPr>
                      <a:r>
                        <a:rPr lang="en-GB" sz="1400" b="1" dirty="0">
                          <a:effectLst/>
                        </a:rPr>
                        <a:t>Iteration</a:t>
                      </a:r>
                    </a:p>
                  </a:txBody>
                  <a:tcPr anchor="ctr"/>
                </a:tc>
                <a:extLst>
                  <a:ext uri="{0D108BD9-81ED-4DB2-BD59-A6C34878D82A}">
                    <a16:rowId xmlns:a16="http://schemas.microsoft.com/office/drawing/2014/main" val="1627297706"/>
                  </a:ext>
                </a:extLst>
              </a:tr>
              <a:tr h="370840">
                <a:tc>
                  <a:txBody>
                    <a:bodyPr/>
                    <a:lstStyle/>
                    <a:p>
                      <a:pPr fontAlgn="ctr">
                        <a:buNone/>
                      </a:pPr>
                      <a:r>
                        <a:rPr lang="en-GB" sz="1400">
                          <a:effectLst/>
                        </a:rPr>
                        <a:t>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96.0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94.63</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281230249"/>
                  </a:ext>
                </a:extLst>
              </a:tr>
              <a:tr h="370840">
                <a:tc>
                  <a:txBody>
                    <a:bodyPr/>
                    <a:lstStyle/>
                    <a:p>
                      <a:pPr fontAlgn="ctr">
                        <a:buNone/>
                      </a:pPr>
                      <a:r>
                        <a:rPr lang="en-GB" sz="1400">
                          <a:effectLst/>
                        </a:rPr>
                        <a:t>GeneralizedLinearRegression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96.0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94.63</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4242592661"/>
                  </a:ext>
                </a:extLst>
              </a:tr>
              <a:tr h="370840">
                <a:tc>
                  <a:txBody>
                    <a:bodyPr/>
                    <a:lstStyle/>
                    <a:p>
                      <a:pPr fontAlgn="ctr">
                        <a:buNone/>
                      </a:pPr>
                      <a:r>
                        <a:rPr lang="en-GB" sz="1400">
                          <a:effectLst/>
                        </a:rPr>
                        <a:t>DecisionTreeRegressor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3212215824"/>
                  </a:ext>
                </a:extLst>
              </a:tr>
              <a:tr h="370840">
                <a:tc>
                  <a:txBody>
                    <a:bodyPr/>
                    <a:lstStyle/>
                    <a:p>
                      <a:pPr fontAlgn="ctr">
                        <a:buNone/>
                      </a:pPr>
                      <a:r>
                        <a:rPr lang="en-GB" sz="1400">
                          <a:effectLst/>
                        </a:rPr>
                        <a:t>RandomForestRegressor</a:t>
                      </a:r>
                    </a:p>
                  </a:txBody>
                  <a:tcPr anchor="ctr"/>
                </a:tc>
                <a:tc>
                  <a:txBody>
                    <a:bodyPr/>
                    <a:lstStyle/>
                    <a:p>
                      <a:pPr fontAlgn="ctr">
                        <a:buNone/>
                      </a:pPr>
                      <a:r>
                        <a:rPr lang="en-GB" sz="1400">
                          <a:effectLst/>
                        </a:rPr>
                        <a:t>96.43</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96.41</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3894362671"/>
                  </a:ext>
                </a:extLst>
              </a:tr>
              <a:tr h="370840">
                <a:tc>
                  <a:txBody>
                    <a:bodyPr/>
                    <a:lstStyle/>
                    <a:p>
                      <a:pPr fontAlgn="ctr">
                        <a:buNone/>
                      </a:pPr>
                      <a:r>
                        <a:rPr lang="en-GB" sz="1400">
                          <a:effectLst/>
                        </a:rPr>
                        <a:t>GBTRegressor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2929494593"/>
                  </a:ext>
                </a:extLst>
              </a:tr>
              <a:tr h="370840">
                <a:tc>
                  <a:txBody>
                    <a:bodyPr/>
                    <a:lstStyle/>
                    <a:p>
                      <a:pPr fontAlgn="ctr">
                        <a:buNone/>
                      </a:pPr>
                      <a:r>
                        <a:rPr lang="en-GB" sz="1400">
                          <a:effectLst/>
                        </a:rPr>
                        <a:t>DecisionTreeClassifier</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4</a:t>
                      </a:r>
                    </a:p>
                  </a:txBody>
                  <a:tcPr anchor="ctr"/>
                </a:tc>
                <a:extLst>
                  <a:ext uri="{0D108BD9-81ED-4DB2-BD59-A6C34878D82A}">
                    <a16:rowId xmlns:a16="http://schemas.microsoft.com/office/drawing/2014/main" val="2379568547"/>
                  </a:ext>
                </a:extLst>
              </a:tr>
              <a:tr h="370840">
                <a:tc>
                  <a:txBody>
                    <a:bodyPr/>
                    <a:lstStyle/>
                    <a:p>
                      <a:pPr fontAlgn="ctr">
                        <a:buNone/>
                      </a:pPr>
                      <a:r>
                        <a:rPr lang="en-GB" sz="1400">
                          <a:effectLst/>
                        </a:rPr>
                        <a:t>RandomForestClassifier</a:t>
                      </a:r>
                    </a:p>
                  </a:txBody>
                  <a:tcPr anchor="ctr"/>
                </a:tc>
                <a:tc>
                  <a:txBody>
                    <a:bodyPr/>
                    <a:lstStyle/>
                    <a:p>
                      <a:pPr fontAlgn="ctr">
                        <a:buNone/>
                      </a:pPr>
                      <a:r>
                        <a:rPr lang="en-GB" sz="1400">
                          <a:effectLst/>
                        </a:rPr>
                        <a:t>96.43</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96.41</a:t>
                      </a:r>
                    </a:p>
                  </a:txBody>
                  <a:tcPr anchor="ctr"/>
                </a:tc>
                <a:tc>
                  <a:txBody>
                    <a:bodyPr/>
                    <a:lstStyle/>
                    <a:p>
                      <a:pPr fontAlgn="ctr">
                        <a:buNone/>
                      </a:pPr>
                      <a:r>
                        <a:rPr lang="en-GB" sz="1400" dirty="0">
                          <a:effectLst/>
                        </a:rPr>
                        <a:t>4</a:t>
                      </a:r>
                    </a:p>
                  </a:txBody>
                  <a:tcPr anchor="ctr"/>
                </a:tc>
                <a:extLst>
                  <a:ext uri="{0D108BD9-81ED-4DB2-BD59-A6C34878D82A}">
                    <a16:rowId xmlns:a16="http://schemas.microsoft.com/office/drawing/2014/main" val="3362680418"/>
                  </a:ext>
                </a:extLst>
              </a:tr>
            </a:tbl>
          </a:graphicData>
        </a:graphic>
      </p:graphicFrame>
    </p:spTree>
    <p:extLst>
      <p:ext uri="{BB962C8B-B14F-4D97-AF65-F5344CB8AC3E}">
        <p14:creationId xmlns:p14="http://schemas.microsoft.com/office/powerpoint/2010/main" val="222167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ECA38-C3AC-77CC-96FB-B627B960D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A4A54-BE78-4565-F800-0F40C8E846D6}"/>
              </a:ext>
            </a:extLst>
          </p:cNvPr>
          <p:cNvSpPr>
            <a:spLocks noGrp="1"/>
          </p:cNvSpPr>
          <p:nvPr>
            <p:ph type="title"/>
          </p:nvPr>
        </p:nvSpPr>
        <p:spPr>
          <a:xfrm>
            <a:off x="1141411" y="179573"/>
            <a:ext cx="9905998" cy="1478570"/>
          </a:xfrm>
        </p:spPr>
        <p:txBody>
          <a:bodyPr/>
          <a:lstStyle/>
          <a:p>
            <a:r>
              <a:rPr lang="en-GB" dirty="0"/>
              <a:t>Experiments &amp; Results</a:t>
            </a:r>
            <a:endParaRPr lang="en-US" dirty="0"/>
          </a:p>
        </p:txBody>
      </p:sp>
      <p:sp>
        <p:nvSpPr>
          <p:cNvPr id="3" name="Content Placeholder 2">
            <a:extLst>
              <a:ext uri="{FF2B5EF4-FFF2-40B4-BE49-F238E27FC236}">
                <a16:creationId xmlns:a16="http://schemas.microsoft.com/office/drawing/2014/main" id="{EFC359BD-1FDD-7719-FF69-0C703833669C}"/>
              </a:ext>
            </a:extLst>
          </p:cNvPr>
          <p:cNvSpPr>
            <a:spLocks noGrp="1"/>
          </p:cNvSpPr>
          <p:nvPr>
            <p:ph idx="1"/>
          </p:nvPr>
        </p:nvSpPr>
        <p:spPr>
          <a:xfrm>
            <a:off x="1141410" y="1366927"/>
            <a:ext cx="9905999" cy="2439963"/>
          </a:xfrm>
        </p:spPr>
        <p:txBody>
          <a:bodyPr>
            <a:normAutofit/>
          </a:bodyPr>
          <a:lstStyle/>
          <a:p>
            <a:pPr marL="0" indent="0">
              <a:buNone/>
            </a:pPr>
            <a:r>
              <a:rPr lang="en-US" sz="2000" dirty="0"/>
              <a:t>After adding ‘</a:t>
            </a:r>
            <a:r>
              <a:rPr lang="en-US" sz="2000" dirty="0" err="1"/>
              <a:t>Mortgage_to_Income</a:t>
            </a:r>
            <a:r>
              <a:rPr lang="en-US" sz="2000" dirty="0"/>
              <a:t>’ and ‘</a:t>
            </a:r>
            <a:r>
              <a:rPr lang="en-US" sz="2000" dirty="0" err="1"/>
              <a:t>Income_times_CCAvg</a:t>
            </a:r>
            <a:r>
              <a:rPr lang="en-US" sz="2000" dirty="0"/>
              <a:t>’, it turns out the RandomForestRegressor and </a:t>
            </a:r>
            <a:r>
              <a:rPr lang="en-US" sz="2000" dirty="0" err="1"/>
              <a:t>RandomForestClassifier</a:t>
            </a:r>
            <a:r>
              <a:rPr lang="en-US" sz="2000" dirty="0"/>
              <a:t> have the highest F1 Score, but the score from the third iteration of the RandomForestRegressor is still the highest among all the tests. In conclusion, the RandomForestRegressor performs the best without the feature engineering, but after the raw fields were normalized, with an F1 Score of 98.21%. I believe this score is high enough to say that the model performs really good.</a:t>
            </a:r>
          </a:p>
        </p:txBody>
      </p:sp>
      <p:graphicFrame>
        <p:nvGraphicFramePr>
          <p:cNvPr id="4" name="Table 3">
            <a:extLst>
              <a:ext uri="{FF2B5EF4-FFF2-40B4-BE49-F238E27FC236}">
                <a16:creationId xmlns:a16="http://schemas.microsoft.com/office/drawing/2014/main" id="{EA0DDBFF-9070-F06A-0EA8-A16F89B07D91}"/>
              </a:ext>
            </a:extLst>
          </p:cNvPr>
          <p:cNvGraphicFramePr>
            <a:graphicFrameLocks noGrp="1"/>
          </p:cNvGraphicFramePr>
          <p:nvPr>
            <p:extLst>
              <p:ext uri="{D42A27DB-BD31-4B8C-83A1-F6EECF244321}">
                <p14:modId xmlns:p14="http://schemas.microsoft.com/office/powerpoint/2010/main" val="1384752775"/>
              </p:ext>
            </p:extLst>
          </p:nvPr>
        </p:nvGraphicFramePr>
        <p:xfrm>
          <a:off x="1279814" y="3711707"/>
          <a:ext cx="9629190" cy="2966720"/>
        </p:xfrm>
        <a:graphic>
          <a:graphicData uri="http://schemas.openxmlformats.org/drawingml/2006/table">
            <a:tbl>
              <a:tblPr firstRow="1" bandRow="1">
                <a:tableStyleId>{8FD4443E-F989-4FC4-A0C8-D5A2AF1F390B}</a:tableStyleId>
              </a:tblPr>
              <a:tblGrid>
                <a:gridCol w="2556588">
                  <a:extLst>
                    <a:ext uri="{9D8B030D-6E8A-4147-A177-3AD203B41FA5}">
                      <a16:colId xmlns:a16="http://schemas.microsoft.com/office/drawing/2014/main" val="375722677"/>
                    </a:ext>
                  </a:extLst>
                </a:gridCol>
                <a:gridCol w="1101012">
                  <a:extLst>
                    <a:ext uri="{9D8B030D-6E8A-4147-A177-3AD203B41FA5}">
                      <a16:colId xmlns:a16="http://schemas.microsoft.com/office/drawing/2014/main" val="1257302733"/>
                    </a:ext>
                  </a:extLst>
                </a:gridCol>
                <a:gridCol w="1156995">
                  <a:extLst>
                    <a:ext uri="{9D8B030D-6E8A-4147-A177-3AD203B41FA5}">
                      <a16:colId xmlns:a16="http://schemas.microsoft.com/office/drawing/2014/main" val="2114932727"/>
                    </a:ext>
                  </a:extLst>
                </a:gridCol>
                <a:gridCol w="1604865">
                  <a:extLst>
                    <a:ext uri="{9D8B030D-6E8A-4147-A177-3AD203B41FA5}">
                      <a16:colId xmlns:a16="http://schemas.microsoft.com/office/drawing/2014/main" val="4273687515"/>
                    </a:ext>
                  </a:extLst>
                </a:gridCol>
                <a:gridCol w="1604865">
                  <a:extLst>
                    <a:ext uri="{9D8B030D-6E8A-4147-A177-3AD203B41FA5}">
                      <a16:colId xmlns:a16="http://schemas.microsoft.com/office/drawing/2014/main" val="2002350842"/>
                    </a:ext>
                  </a:extLst>
                </a:gridCol>
                <a:gridCol w="1604865">
                  <a:extLst>
                    <a:ext uri="{9D8B030D-6E8A-4147-A177-3AD203B41FA5}">
                      <a16:colId xmlns:a16="http://schemas.microsoft.com/office/drawing/2014/main" val="1807543849"/>
                    </a:ext>
                  </a:extLst>
                </a:gridCol>
              </a:tblGrid>
              <a:tr h="370840">
                <a:tc>
                  <a:txBody>
                    <a:bodyPr/>
                    <a:lstStyle/>
                    <a:p>
                      <a:pPr fontAlgn="ctr">
                        <a:buNone/>
                      </a:pPr>
                      <a:r>
                        <a:rPr lang="en-GB" sz="1400" b="1" dirty="0">
                          <a:effectLst/>
                        </a:rPr>
                        <a:t>Model</a:t>
                      </a:r>
                    </a:p>
                  </a:txBody>
                  <a:tcPr anchor="ctr"/>
                </a:tc>
                <a:tc>
                  <a:txBody>
                    <a:bodyPr/>
                    <a:lstStyle/>
                    <a:p>
                      <a:pPr fontAlgn="ctr">
                        <a:buNone/>
                      </a:pPr>
                      <a:r>
                        <a:rPr lang="en-GB" sz="1400" b="1" dirty="0">
                          <a:effectLst/>
                        </a:rPr>
                        <a:t>Accuracy</a:t>
                      </a:r>
                    </a:p>
                  </a:txBody>
                  <a:tcPr anchor="ctr"/>
                </a:tc>
                <a:tc>
                  <a:txBody>
                    <a:bodyPr/>
                    <a:lstStyle/>
                    <a:p>
                      <a:pPr fontAlgn="ctr">
                        <a:buNone/>
                      </a:pPr>
                      <a:r>
                        <a:rPr lang="en-GB" sz="1400" b="1" dirty="0">
                          <a:effectLst/>
                        </a:rPr>
                        <a:t>Precision</a:t>
                      </a:r>
                    </a:p>
                  </a:txBody>
                  <a:tcPr anchor="ctr"/>
                </a:tc>
                <a:tc>
                  <a:txBody>
                    <a:bodyPr/>
                    <a:lstStyle/>
                    <a:p>
                      <a:pPr fontAlgn="ctr">
                        <a:buNone/>
                      </a:pPr>
                      <a:r>
                        <a:rPr lang="en-GB" sz="1400" b="1">
                          <a:effectLst/>
                        </a:rPr>
                        <a:t>Recall</a:t>
                      </a:r>
                    </a:p>
                  </a:txBody>
                  <a:tcPr anchor="ctr"/>
                </a:tc>
                <a:tc>
                  <a:txBody>
                    <a:bodyPr/>
                    <a:lstStyle/>
                    <a:p>
                      <a:pPr fontAlgn="ctr">
                        <a:buNone/>
                      </a:pPr>
                      <a:r>
                        <a:rPr lang="en-GB" sz="1400" b="1" dirty="0">
                          <a:effectLst/>
                        </a:rPr>
                        <a:t>F1 Score</a:t>
                      </a:r>
                    </a:p>
                  </a:txBody>
                  <a:tcPr anchor="ctr"/>
                </a:tc>
                <a:tc>
                  <a:txBody>
                    <a:bodyPr/>
                    <a:lstStyle/>
                    <a:p>
                      <a:pPr fontAlgn="ctr">
                        <a:buNone/>
                      </a:pPr>
                      <a:r>
                        <a:rPr lang="en-GB" sz="1400" b="1" dirty="0">
                          <a:effectLst/>
                        </a:rPr>
                        <a:t>Iteration</a:t>
                      </a:r>
                    </a:p>
                  </a:txBody>
                  <a:tcPr anchor="ctr"/>
                </a:tc>
                <a:extLst>
                  <a:ext uri="{0D108BD9-81ED-4DB2-BD59-A6C34878D82A}">
                    <a16:rowId xmlns:a16="http://schemas.microsoft.com/office/drawing/2014/main" val="1627297706"/>
                  </a:ext>
                </a:extLst>
              </a:tr>
              <a:tr h="370840">
                <a:tc>
                  <a:txBody>
                    <a:bodyPr/>
                    <a:lstStyle/>
                    <a:p>
                      <a:pPr fontAlgn="ctr">
                        <a:buNone/>
                      </a:pPr>
                      <a:r>
                        <a:rPr lang="en-GB" sz="1400">
                          <a:effectLst/>
                        </a:rPr>
                        <a:t>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281230249"/>
                  </a:ext>
                </a:extLst>
              </a:tr>
              <a:tr h="370840">
                <a:tc>
                  <a:txBody>
                    <a:bodyPr/>
                    <a:lstStyle/>
                    <a:p>
                      <a:pPr fontAlgn="ctr">
                        <a:buNone/>
                      </a:pPr>
                      <a:r>
                        <a:rPr lang="en-GB" sz="1400">
                          <a:effectLst/>
                        </a:rPr>
                        <a:t>GeneralizedLinearRegression</a:t>
                      </a:r>
                    </a:p>
                  </a:txBody>
                  <a:tcPr anchor="ctr"/>
                </a:tc>
                <a:tc>
                  <a:txBody>
                    <a:bodyPr/>
                    <a:lstStyle/>
                    <a:p>
                      <a:pPr fontAlgn="ctr">
                        <a:buNone/>
                      </a:pPr>
                      <a:r>
                        <a:rPr lang="en-GB" sz="1400">
                          <a:effectLst/>
                        </a:rPr>
                        <a:t>94.64</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88.46</a:t>
                      </a:r>
                    </a:p>
                  </a:txBody>
                  <a:tcPr anchor="ctr"/>
                </a:tc>
                <a:tc>
                  <a:txBody>
                    <a:bodyPr/>
                    <a:lstStyle/>
                    <a:p>
                      <a:pPr fontAlgn="ctr">
                        <a:buNone/>
                      </a:pPr>
                      <a:r>
                        <a:rPr lang="en-GB" sz="1400">
                          <a:effectLst/>
                        </a:rPr>
                        <a:t>94.61</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4242592661"/>
                  </a:ext>
                </a:extLst>
              </a:tr>
              <a:tr h="370840">
                <a:tc>
                  <a:txBody>
                    <a:bodyPr/>
                    <a:lstStyle/>
                    <a:p>
                      <a:pPr fontAlgn="ctr">
                        <a:buNone/>
                      </a:pPr>
                      <a:r>
                        <a:rPr lang="en-GB" sz="1400">
                          <a:effectLst/>
                        </a:rPr>
                        <a:t>DecisionTreeRegressor</a:t>
                      </a:r>
                    </a:p>
                  </a:txBody>
                  <a:tcPr anchor="ctr"/>
                </a:tc>
                <a:tc>
                  <a:txBody>
                    <a:bodyPr/>
                    <a:lstStyle/>
                    <a:p>
                      <a:pPr fontAlgn="ctr">
                        <a:buNone/>
                      </a:pPr>
                      <a:r>
                        <a:rPr lang="en-GB" sz="1400">
                          <a:effectLst/>
                        </a:rPr>
                        <a:t>92.86</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84.62</a:t>
                      </a:r>
                    </a:p>
                  </a:txBody>
                  <a:tcPr anchor="ctr"/>
                </a:tc>
                <a:tc>
                  <a:txBody>
                    <a:bodyPr/>
                    <a:lstStyle/>
                    <a:p>
                      <a:pPr fontAlgn="ctr">
                        <a:buNone/>
                      </a:pPr>
                      <a:r>
                        <a:rPr lang="en-GB" sz="1400">
                          <a:effectLst/>
                        </a:rPr>
                        <a:t>92.78</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3212215824"/>
                  </a:ext>
                </a:extLst>
              </a:tr>
              <a:tr h="370840">
                <a:tc>
                  <a:txBody>
                    <a:bodyPr/>
                    <a:lstStyle/>
                    <a:p>
                      <a:pPr fontAlgn="ctr">
                        <a:buNone/>
                      </a:pPr>
                      <a:r>
                        <a:rPr lang="en-GB" sz="1400">
                          <a:effectLst/>
                        </a:rPr>
                        <a:t>RandomForestRegressor</a:t>
                      </a:r>
                    </a:p>
                  </a:txBody>
                  <a:tcPr anchor="ctr"/>
                </a:tc>
                <a:tc>
                  <a:txBody>
                    <a:bodyPr/>
                    <a:lstStyle/>
                    <a:p>
                      <a:pPr fontAlgn="ctr">
                        <a:buNone/>
                      </a:pPr>
                      <a:r>
                        <a:rPr lang="en-GB" sz="1400">
                          <a:effectLst/>
                        </a:rPr>
                        <a:t>96.43</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96.41</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3894362671"/>
                  </a:ext>
                </a:extLst>
              </a:tr>
              <a:tr h="370840">
                <a:tc>
                  <a:txBody>
                    <a:bodyPr/>
                    <a:lstStyle/>
                    <a:p>
                      <a:pPr fontAlgn="ctr">
                        <a:buNone/>
                      </a:pPr>
                      <a:r>
                        <a:rPr lang="en-GB" sz="1400">
                          <a:effectLst/>
                        </a:rPr>
                        <a:t>GBTRegressor</a:t>
                      </a:r>
                    </a:p>
                  </a:txBody>
                  <a:tcPr anchor="ctr"/>
                </a:tc>
                <a:tc>
                  <a:txBody>
                    <a:bodyPr/>
                    <a:lstStyle/>
                    <a:p>
                      <a:pPr fontAlgn="ctr">
                        <a:buNone/>
                      </a:pPr>
                      <a:r>
                        <a:rPr lang="en-GB" sz="1400">
                          <a:effectLst/>
                        </a:rPr>
                        <a:t>91.07</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80.77</a:t>
                      </a:r>
                    </a:p>
                  </a:txBody>
                  <a:tcPr anchor="ctr"/>
                </a:tc>
                <a:tc>
                  <a:txBody>
                    <a:bodyPr/>
                    <a:lstStyle/>
                    <a:p>
                      <a:pPr fontAlgn="ctr">
                        <a:buNone/>
                      </a:pPr>
                      <a:r>
                        <a:rPr lang="en-GB" sz="1400">
                          <a:effectLst/>
                        </a:rPr>
                        <a:t>90.94</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2929494593"/>
                  </a:ext>
                </a:extLst>
              </a:tr>
              <a:tr h="370840">
                <a:tc>
                  <a:txBody>
                    <a:bodyPr/>
                    <a:lstStyle/>
                    <a:p>
                      <a:pPr fontAlgn="ctr">
                        <a:buNone/>
                      </a:pPr>
                      <a:r>
                        <a:rPr lang="en-GB" sz="1400">
                          <a:effectLst/>
                        </a:rPr>
                        <a:t>DecisionTreeClassifier</a:t>
                      </a:r>
                    </a:p>
                  </a:txBody>
                  <a:tcPr anchor="ctr"/>
                </a:tc>
                <a:tc>
                  <a:txBody>
                    <a:bodyPr/>
                    <a:lstStyle/>
                    <a:p>
                      <a:pPr fontAlgn="ctr">
                        <a:buNone/>
                      </a:pPr>
                      <a:r>
                        <a:rPr lang="en-GB" sz="1400">
                          <a:effectLst/>
                        </a:rPr>
                        <a:t>92.86</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84.62</a:t>
                      </a:r>
                    </a:p>
                  </a:txBody>
                  <a:tcPr anchor="ctr"/>
                </a:tc>
                <a:tc>
                  <a:txBody>
                    <a:bodyPr/>
                    <a:lstStyle/>
                    <a:p>
                      <a:pPr fontAlgn="ctr">
                        <a:buNone/>
                      </a:pPr>
                      <a:r>
                        <a:rPr lang="en-GB" sz="1400">
                          <a:effectLst/>
                        </a:rPr>
                        <a:t>92.78</a:t>
                      </a:r>
                    </a:p>
                  </a:txBody>
                  <a:tcPr anchor="ctr"/>
                </a:tc>
                <a:tc>
                  <a:txBody>
                    <a:bodyPr/>
                    <a:lstStyle/>
                    <a:p>
                      <a:pPr fontAlgn="ctr">
                        <a:buNone/>
                      </a:pPr>
                      <a:r>
                        <a:rPr lang="en-GB" sz="1400">
                          <a:effectLst/>
                        </a:rPr>
                        <a:t>5</a:t>
                      </a:r>
                    </a:p>
                  </a:txBody>
                  <a:tcPr anchor="ctr"/>
                </a:tc>
                <a:extLst>
                  <a:ext uri="{0D108BD9-81ED-4DB2-BD59-A6C34878D82A}">
                    <a16:rowId xmlns:a16="http://schemas.microsoft.com/office/drawing/2014/main" val="2379568547"/>
                  </a:ext>
                </a:extLst>
              </a:tr>
              <a:tr h="370840">
                <a:tc>
                  <a:txBody>
                    <a:bodyPr/>
                    <a:lstStyle/>
                    <a:p>
                      <a:pPr fontAlgn="ctr">
                        <a:buNone/>
                      </a:pPr>
                      <a:r>
                        <a:rPr lang="en-GB" sz="1400">
                          <a:effectLst/>
                        </a:rPr>
                        <a:t>RandomForestClassifier</a:t>
                      </a:r>
                    </a:p>
                  </a:txBody>
                  <a:tcPr anchor="ctr"/>
                </a:tc>
                <a:tc>
                  <a:txBody>
                    <a:bodyPr/>
                    <a:lstStyle/>
                    <a:p>
                      <a:pPr fontAlgn="ctr">
                        <a:buNone/>
                      </a:pPr>
                      <a:r>
                        <a:rPr lang="en-GB" sz="1400">
                          <a:effectLst/>
                        </a:rPr>
                        <a:t>96.43</a:t>
                      </a:r>
                    </a:p>
                  </a:txBody>
                  <a:tcPr anchor="ctr"/>
                </a:tc>
                <a:tc>
                  <a:txBody>
                    <a:bodyPr/>
                    <a:lstStyle/>
                    <a:p>
                      <a:pPr fontAlgn="ctr">
                        <a:buNone/>
                      </a:pPr>
                      <a:r>
                        <a:rPr lang="en-GB" sz="1400">
                          <a:effectLst/>
                        </a:rPr>
                        <a:t>100.0</a:t>
                      </a:r>
                    </a:p>
                  </a:txBody>
                  <a:tcPr anchor="ctr"/>
                </a:tc>
                <a:tc>
                  <a:txBody>
                    <a:bodyPr/>
                    <a:lstStyle/>
                    <a:p>
                      <a:pPr fontAlgn="ctr">
                        <a:buNone/>
                      </a:pPr>
                      <a:r>
                        <a:rPr lang="en-GB" sz="1400">
                          <a:effectLst/>
                        </a:rPr>
                        <a:t>92.31</a:t>
                      </a:r>
                    </a:p>
                  </a:txBody>
                  <a:tcPr anchor="ctr"/>
                </a:tc>
                <a:tc>
                  <a:txBody>
                    <a:bodyPr/>
                    <a:lstStyle/>
                    <a:p>
                      <a:pPr fontAlgn="ctr">
                        <a:buNone/>
                      </a:pPr>
                      <a:r>
                        <a:rPr lang="en-GB" sz="1400">
                          <a:effectLst/>
                        </a:rPr>
                        <a:t>96.41</a:t>
                      </a:r>
                    </a:p>
                  </a:txBody>
                  <a:tcPr anchor="ctr"/>
                </a:tc>
                <a:tc>
                  <a:txBody>
                    <a:bodyPr/>
                    <a:lstStyle/>
                    <a:p>
                      <a:pPr fontAlgn="ctr">
                        <a:buNone/>
                      </a:pPr>
                      <a:r>
                        <a:rPr lang="en-GB" sz="1400" dirty="0">
                          <a:effectLst/>
                        </a:rPr>
                        <a:t>5</a:t>
                      </a:r>
                    </a:p>
                  </a:txBody>
                  <a:tcPr anchor="ctr"/>
                </a:tc>
                <a:extLst>
                  <a:ext uri="{0D108BD9-81ED-4DB2-BD59-A6C34878D82A}">
                    <a16:rowId xmlns:a16="http://schemas.microsoft.com/office/drawing/2014/main" val="3362680418"/>
                  </a:ext>
                </a:extLst>
              </a:tr>
            </a:tbl>
          </a:graphicData>
        </a:graphic>
      </p:graphicFrame>
    </p:spTree>
    <p:extLst>
      <p:ext uri="{BB962C8B-B14F-4D97-AF65-F5344CB8AC3E}">
        <p14:creationId xmlns:p14="http://schemas.microsoft.com/office/powerpoint/2010/main" val="2877119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383E-7C48-CF93-9724-4844E2193072}"/>
              </a:ext>
            </a:extLst>
          </p:cNvPr>
          <p:cNvSpPr>
            <a:spLocks noGrp="1"/>
          </p:cNvSpPr>
          <p:nvPr>
            <p:ph type="title"/>
          </p:nvPr>
        </p:nvSpPr>
        <p:spPr/>
        <p:txBody>
          <a:bodyPr/>
          <a:lstStyle/>
          <a:p>
            <a:r>
              <a:rPr lang="en-GB" dirty="0"/>
              <a:t>Conclusion &amp; Future Work</a:t>
            </a:r>
            <a:endParaRPr lang="en-US" dirty="0"/>
          </a:p>
        </p:txBody>
      </p:sp>
      <p:sp>
        <p:nvSpPr>
          <p:cNvPr id="3" name="Content Placeholder 2">
            <a:extLst>
              <a:ext uri="{FF2B5EF4-FFF2-40B4-BE49-F238E27FC236}">
                <a16:creationId xmlns:a16="http://schemas.microsoft.com/office/drawing/2014/main" id="{0BFC9F39-FE4A-C2D9-6214-EAFA62780982}"/>
              </a:ext>
            </a:extLst>
          </p:cNvPr>
          <p:cNvSpPr>
            <a:spLocks noGrp="1"/>
          </p:cNvSpPr>
          <p:nvPr>
            <p:ph idx="1"/>
          </p:nvPr>
        </p:nvSpPr>
        <p:spPr/>
        <p:txBody>
          <a:bodyPr/>
          <a:lstStyle/>
          <a:p>
            <a:pPr marL="0" indent="0">
              <a:buNone/>
            </a:pPr>
            <a:r>
              <a:rPr lang="en-US" dirty="0"/>
              <a:t>In conclusion, I would suggest utilizing the RandomForestRegressor algorithm with the hyperparameters from the optimization session because it performed the best, thus the marketing costs will be lower, and so the ROI will be higher.</a:t>
            </a:r>
          </a:p>
          <a:p>
            <a:pPr marL="0" indent="0">
              <a:buNone/>
            </a:pPr>
            <a:r>
              <a:rPr lang="en-US" dirty="0"/>
              <a:t>What I learned from this project is that I should never underestimate any task, data, or model, and always try to do more than required.</a:t>
            </a:r>
          </a:p>
        </p:txBody>
      </p:sp>
    </p:spTree>
    <p:extLst>
      <p:ext uri="{BB962C8B-B14F-4D97-AF65-F5344CB8AC3E}">
        <p14:creationId xmlns:p14="http://schemas.microsoft.com/office/powerpoint/2010/main" val="348212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13F30-1CF4-9CB9-4BE9-214A03C03C91}"/>
              </a:ext>
            </a:extLst>
          </p:cNvPr>
          <p:cNvSpPr>
            <a:spLocks noGrp="1"/>
          </p:cNvSpPr>
          <p:nvPr>
            <p:ph type="title"/>
          </p:nvPr>
        </p:nvSpPr>
        <p:spPr>
          <a:xfrm>
            <a:off x="2761845" y="1950430"/>
            <a:ext cx="6668309" cy="1478570"/>
          </a:xfrm>
        </p:spPr>
        <p:txBody>
          <a:bodyPr/>
          <a:lstStyle/>
          <a:p>
            <a:r>
              <a:rPr lang="en-US" dirty="0"/>
              <a:t>Thank you for the attention!</a:t>
            </a:r>
          </a:p>
        </p:txBody>
      </p:sp>
      <p:sp>
        <p:nvSpPr>
          <p:cNvPr id="3" name="Content Placeholder 2">
            <a:extLst>
              <a:ext uri="{FF2B5EF4-FFF2-40B4-BE49-F238E27FC236}">
                <a16:creationId xmlns:a16="http://schemas.microsoft.com/office/drawing/2014/main" id="{41A4AA7B-B08E-669F-E8BC-3312D28D058A}"/>
              </a:ext>
            </a:extLst>
          </p:cNvPr>
          <p:cNvSpPr>
            <a:spLocks noGrp="1"/>
          </p:cNvSpPr>
          <p:nvPr>
            <p:ph idx="1"/>
          </p:nvPr>
        </p:nvSpPr>
        <p:spPr>
          <a:xfrm>
            <a:off x="1393339" y="5824674"/>
            <a:ext cx="5250057" cy="829615"/>
          </a:xfrm>
        </p:spPr>
        <p:txBody>
          <a:bodyPr>
            <a:normAutofit/>
          </a:bodyPr>
          <a:lstStyle/>
          <a:p>
            <a:pPr marL="0" indent="0">
              <a:buNone/>
            </a:pPr>
            <a:r>
              <a:rPr lang="en-US" sz="1600" dirty="0"/>
              <a:t>Author: Nikolay Kirilov</a:t>
            </a:r>
          </a:p>
          <a:p>
            <a:pPr marL="0" indent="0">
              <a:buNone/>
            </a:pPr>
            <a:r>
              <a:rPr lang="en-US" sz="1600" dirty="0"/>
              <a:t>You can find me on my GitHub: </a:t>
            </a:r>
            <a:r>
              <a:rPr lang="en-US" sz="1600" dirty="0">
                <a:hlinkClick r:id="rId2"/>
              </a:rPr>
              <a:t>https://github.com/NickKirilov</a:t>
            </a:r>
            <a:endParaRPr lang="en-US" sz="1600" dirty="0"/>
          </a:p>
          <a:p>
            <a:pPr marL="0" indent="0">
              <a:buNone/>
            </a:pPr>
            <a:endParaRPr lang="en-US" sz="1600" dirty="0"/>
          </a:p>
        </p:txBody>
      </p:sp>
    </p:spTree>
    <p:extLst>
      <p:ext uri="{BB962C8B-B14F-4D97-AF65-F5344CB8AC3E}">
        <p14:creationId xmlns:p14="http://schemas.microsoft.com/office/powerpoint/2010/main" val="2749834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207</TotalTime>
  <Words>1004</Words>
  <Application>Microsoft Macintosh PowerPoint</Application>
  <PresentationFormat>Widescreen</PresentationFormat>
  <Paragraphs>230</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Visa for lisa</vt:lpstr>
      <vt:lpstr>Problem Definition</vt:lpstr>
      <vt:lpstr>Data</vt:lpstr>
      <vt:lpstr>Data preprocessing</vt:lpstr>
      <vt:lpstr>Exploratory Data Analysis</vt:lpstr>
      <vt:lpstr>Exploratory Data Analysis</vt:lpstr>
      <vt:lpstr>Methodology</vt:lpstr>
      <vt:lpstr>Experiments &amp; Results</vt:lpstr>
      <vt:lpstr>Experiments &amp; Results</vt:lpstr>
      <vt:lpstr>Experiments &amp; Results</vt:lpstr>
      <vt:lpstr>Experiments &amp; Results</vt:lpstr>
      <vt:lpstr>Experiments &amp; Results</vt:lpstr>
      <vt:lpstr>Conclusion &amp; Future Work</vt:lpstr>
      <vt:lpstr>Thank you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Nikolay Kirilov</dc:creator>
  <cp:lastModifiedBy>Nikolay Kirilov</cp:lastModifiedBy>
  <cp:revision>1</cp:revision>
  <dcterms:created xsi:type="dcterms:W3CDTF">2025-09-10T09:47:29Z</dcterms:created>
  <dcterms:modified xsi:type="dcterms:W3CDTF">2025-09-10T13:14:52Z</dcterms:modified>
</cp:coreProperties>
</file>